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871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Start by greeting the panel and introduce the coursework title. Mention that the project uses OGBN-Arxiv, a citation network, and compares GCN with GraphSAGE. State that the presentation will cover the full pipeline from tensors to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Briefly explain the roadmap. Emphasize that the presentation is split equally across four members and that each part connects to the coursework tasks.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Explain the dataset scale: 169,343 nodes, more than 1.1 million edges, 128 features, and 40 classes. Point out the class imbalance visible in the chart and explain why this makes weighted and macro metrics important.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Summarize that tensors are not separate from the main work; they are used throughout the pipeline for features, labels, indices, edge_index, logits and predictions.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Explain the edge-list representation and the sample subgraph. Point out the long-tailed in-degree and out-degree distributions, and mention that this affects how much neighborhood information different papers receive.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Emphasize methodology. The official train, validation and test split was preserved, and normalization used only training statistics. Also mention that the directed graph was converted to a symmetric message-passing graph for GNN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Explain the GCN flow from input features to logits. Mention BatchNorm, ReLU and Dropout. State that the tuned GCN used 3 layers and reached 0.7212 validation accuracy.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Explain that GraphSAGE uses mean aggregation and has more trainable parameters than GCN. State that it reached the strongest validation result during tuning.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Explain how the models were trained. Highlight that loss was calculated only on training nodes and validation accuracy was used for checkpointing and model selection.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Talk through the three tested configurations. Explain that deeper 3-layer models with a lower learning rate performed best. GraphSAGE achieved the highest validation accuracy during tuning.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Explain that the final conclusion should not be based on accuracy only. Weighted metrics show overall performance; macro metrics show class-balanced performance. Mention the small generalization gaps.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Explain each explainability method. PCA gives a global view, neighborhood influence gives a local explanation, and edge ablation tests whether graph connections affect the confidence.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Show the dashboard components. Mention graph statistics, model performance, node classification results, PCA visualization and sample subgraph. Emphasize that the dashboard does not require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Summarize the main findings clearly. Avoid reading all text. Emphasize the comparison between GraphSAGE and GCN and the importance of macro metrics.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Present this as critical reflection. Explain that limitations are normal in large graph-learning tasks and that future improvements are realistic research directions.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Be ready for Q&amp;A. Possible questions include why GCN and GraphSAGE were selected, why CrossEntropyLoss was used, how leakage was prevented, why macro F1 is lower, and how the dashboard works.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dirty="0"/>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6" name="Text 3"/>
          <p:cNvSpPr/>
          <p:nvPr/>
        </p:nvSpPr>
        <p:spPr>
          <a:xfrm>
            <a:off x="594360" y="1417320"/>
            <a:ext cx="5029200" cy="210312"/>
          </a:xfrm>
          <a:prstGeom prst="rect">
            <a:avLst/>
          </a:prstGeom>
          <a:noFill/>
          <a:ln/>
        </p:spPr>
        <p:txBody>
          <a:bodyPr wrap="square" lIns="0" tIns="0" rIns="0" bIns="0" rtlCol="0" anchor="ctr"/>
          <a:lstStyle/>
          <a:p>
            <a:pPr marL="0" indent="0">
              <a:buNone/>
            </a:pPr>
            <a:r>
              <a:rPr lang="en-US" sz="850" b="1" dirty="0">
                <a:solidFill>
                  <a:srgbClr val="37D6E5"/>
                </a:solidFill>
                <a:latin typeface="Calibri" pitchFamily="34" charset="0"/>
                <a:ea typeface="Calibri" pitchFamily="34" charset="-122"/>
                <a:cs typeface="Calibri" pitchFamily="34" charset="-120"/>
              </a:rPr>
              <a:t>CCS4354 – TENSORS AND GRAPHS COURSEWORK</a:t>
            </a:r>
            <a:endParaRPr lang="en-US" sz="850" dirty="0"/>
          </a:p>
        </p:txBody>
      </p:sp>
      <p:sp>
        <p:nvSpPr>
          <p:cNvPr id="7" name="Text 4"/>
          <p:cNvSpPr/>
          <p:nvPr/>
        </p:nvSpPr>
        <p:spPr>
          <a:xfrm>
            <a:off x="576072" y="1783080"/>
            <a:ext cx="6492240" cy="1133856"/>
          </a:xfrm>
          <a:prstGeom prst="rect">
            <a:avLst/>
          </a:prstGeom>
          <a:noFill/>
          <a:ln/>
        </p:spPr>
        <p:txBody>
          <a:bodyPr wrap="square" lIns="0" tIns="0" rIns="0" bIns="0" rtlCol="0" anchor="ctr">
            <a:normAutofit lnSpcReduction="10000"/>
          </a:bodyPr>
          <a:lstStyle/>
          <a:p>
            <a:pPr marL="0" indent="0">
              <a:buNone/>
            </a:pPr>
            <a:r>
              <a:rPr lang="en-US" sz="3800" b="1" dirty="0">
                <a:solidFill>
                  <a:srgbClr val="FFFFFF"/>
                </a:solidFill>
              </a:rPr>
              <a:t>Graph Neural Network-Based Node Classification</a:t>
            </a:r>
            <a:endParaRPr lang="en-US" sz="3800" dirty="0"/>
          </a:p>
        </p:txBody>
      </p:sp>
      <p:sp>
        <p:nvSpPr>
          <p:cNvPr id="8" name="Text 5"/>
          <p:cNvSpPr/>
          <p:nvPr/>
        </p:nvSpPr>
        <p:spPr>
          <a:xfrm>
            <a:off x="594360" y="3127248"/>
            <a:ext cx="6126480" cy="411480"/>
          </a:xfrm>
          <a:prstGeom prst="rect">
            <a:avLst/>
          </a:prstGeom>
          <a:noFill/>
          <a:ln/>
        </p:spPr>
        <p:txBody>
          <a:bodyPr wrap="square" lIns="0" tIns="0" rIns="0" bIns="0" rtlCol="0" anchor="ctr"/>
          <a:lstStyle/>
          <a:p>
            <a:pPr marL="0" indent="0">
              <a:buNone/>
            </a:pPr>
            <a:r>
              <a:rPr lang="en-US" sz="2300" b="1" dirty="0">
                <a:solidFill>
                  <a:srgbClr val="8DEDF4"/>
                </a:solidFill>
              </a:rPr>
              <a:t>on the OGBN-Arxiv Citation Network</a:t>
            </a:r>
            <a:endParaRPr lang="en-US" sz="2300" dirty="0"/>
          </a:p>
        </p:txBody>
      </p:sp>
      <p:sp>
        <p:nvSpPr>
          <p:cNvPr id="9" name="Text 6"/>
          <p:cNvSpPr/>
          <p:nvPr/>
        </p:nvSpPr>
        <p:spPr>
          <a:xfrm>
            <a:off x="612648" y="3730752"/>
            <a:ext cx="6446520" cy="365760"/>
          </a:xfrm>
          <a:prstGeom prst="rect">
            <a:avLst/>
          </a:prstGeom>
          <a:noFill/>
          <a:ln/>
        </p:spPr>
        <p:txBody>
          <a:bodyPr wrap="square" lIns="0" tIns="0" rIns="0" bIns="0" rtlCol="0" anchor="ctr"/>
          <a:lstStyle/>
          <a:p>
            <a:pPr marL="0" indent="0">
              <a:buNone/>
            </a:pPr>
            <a:r>
              <a:rPr lang="en-US" sz="1500" dirty="0">
                <a:solidFill>
                  <a:srgbClr val="B8C6D8"/>
                </a:solidFill>
              </a:rPr>
              <a:t>GCN vs GraphSAGE • Explainability • Streamlit Graph Intelligence Dashboard</a:t>
            </a:r>
            <a:endParaRPr lang="en-US" sz="1500" dirty="0"/>
          </a:p>
        </p:txBody>
      </p:sp>
      <p:sp>
        <p:nvSpPr>
          <p:cNvPr id="10" name="Shape 7"/>
          <p:cNvSpPr/>
          <p:nvPr/>
        </p:nvSpPr>
        <p:spPr>
          <a:xfrm>
            <a:off x="7616952" y="667512"/>
            <a:ext cx="3922776" cy="3968496"/>
          </a:xfrm>
          <a:prstGeom prst="roundRect">
            <a:avLst>
              <a:gd name="adj" fmla="val 1865"/>
            </a:avLst>
          </a:prstGeom>
          <a:solidFill>
            <a:srgbClr val="0E2037"/>
          </a:solidFill>
          <a:ln w="8890">
            <a:solidFill>
              <a:srgbClr val="23374F"/>
            </a:solidFill>
            <a:prstDash val="solid"/>
          </a:ln>
        </p:spPr>
        <p:txBody>
          <a:bodyPr/>
          <a:lstStyle/>
          <a:p>
            <a:endParaRPr lang="en-US"/>
          </a:p>
        </p:txBody>
      </p:sp>
      <p:pic>
        <p:nvPicPr>
          <p:cNvPr id="11" name="Image 1" descr="/mnt/data/extracted_report_images/p18_img1.png"/>
          <p:cNvPicPr>
            <a:picLocks noChangeAspect="1"/>
          </p:cNvPicPr>
          <p:nvPr/>
        </p:nvPicPr>
        <p:blipFill>
          <a:blip r:embed="rId3"/>
          <a:srcRect l="11874" r="11874"/>
          <a:stretch/>
        </p:blipFill>
        <p:spPr>
          <a:xfrm>
            <a:off x="7635240" y="685800"/>
            <a:ext cx="3886200" cy="3931920"/>
          </a:xfrm>
          <a:prstGeom prst="rect">
            <a:avLst/>
          </a:prstGeom>
        </p:spPr>
      </p:pic>
      <p:sp>
        <p:nvSpPr>
          <p:cNvPr id="12" name="Shape 8"/>
          <p:cNvSpPr/>
          <p:nvPr/>
        </p:nvSpPr>
        <p:spPr>
          <a:xfrm>
            <a:off x="701159" y="4236069"/>
            <a:ext cx="3017520" cy="0"/>
          </a:xfrm>
          <a:prstGeom prst="line">
            <a:avLst/>
          </a:prstGeom>
          <a:noFill/>
          <a:ln w="27940">
            <a:solidFill>
              <a:srgbClr val="37D6E5"/>
            </a:solidFill>
            <a:prstDash val="solid"/>
          </a:ln>
        </p:spPr>
        <p:txBody>
          <a:bodyPr/>
          <a:lstStyle/>
          <a:p>
            <a:endParaRPr lang="en-US"/>
          </a:p>
        </p:txBody>
      </p:sp>
      <p:sp>
        <p:nvSpPr>
          <p:cNvPr id="13" name="Text 9"/>
          <p:cNvSpPr/>
          <p:nvPr/>
        </p:nvSpPr>
        <p:spPr>
          <a:xfrm>
            <a:off x="603504" y="4681728"/>
            <a:ext cx="6583680" cy="320040"/>
          </a:xfrm>
          <a:prstGeom prst="rect">
            <a:avLst/>
          </a:prstGeom>
          <a:noFill/>
          <a:ln/>
        </p:spPr>
        <p:txBody>
          <a:bodyPr wrap="square" lIns="0" tIns="0" rIns="0" bIns="0" rtlCol="0" anchor="ctr"/>
          <a:lstStyle/>
          <a:p>
            <a:pPr algn="just"/>
            <a:r>
              <a:rPr lang="en-US" sz="1350" dirty="0">
                <a:solidFill>
                  <a:srgbClr val="FFFFFF"/>
                </a:solidFill>
              </a:rPr>
              <a:t>Presenters: </a:t>
            </a:r>
          </a:p>
          <a:p>
            <a:pPr algn="just"/>
            <a:r>
              <a:rPr lang="en-US" sz="1350" dirty="0">
                <a:solidFill>
                  <a:srgbClr val="FFFFFF"/>
                </a:solidFill>
              </a:rPr>
              <a:t> </a:t>
            </a:r>
            <a:endParaRPr lang="en-US" sz="1350" dirty="0"/>
          </a:p>
        </p:txBody>
      </p:sp>
      <p:sp>
        <p:nvSpPr>
          <p:cNvPr id="14" name="Text 10"/>
          <p:cNvSpPr/>
          <p:nvPr/>
        </p:nvSpPr>
        <p:spPr>
          <a:xfrm>
            <a:off x="603504" y="5074920"/>
            <a:ext cx="5486400" cy="274320"/>
          </a:xfrm>
          <a:prstGeom prst="rect">
            <a:avLst/>
          </a:prstGeom>
          <a:noFill/>
          <a:ln/>
        </p:spPr>
        <p:txBody>
          <a:bodyPr wrap="square" lIns="0" tIns="0" rIns="0" bIns="0" rtlCol="0" anchor="ctr"/>
          <a:lstStyle/>
          <a:p>
            <a:pPr marL="0" indent="0">
              <a:buNone/>
            </a:pPr>
            <a:endParaRPr lang="en-US" sz="1050" dirty="0"/>
          </a:p>
        </p:txBody>
      </p:sp>
      <p:sp>
        <p:nvSpPr>
          <p:cNvPr id="16" name="Text 11"/>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17" name="Text 12"/>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01</a:t>
            </a:r>
            <a:endParaRPr lang="en-US" sz="900" dirty="0"/>
          </a:p>
        </p:txBody>
      </p:sp>
      <p:graphicFrame>
        <p:nvGraphicFramePr>
          <p:cNvPr id="15" name="Table 14">
            <a:extLst>
              <a:ext uri="{FF2B5EF4-FFF2-40B4-BE49-F238E27FC236}">
                <a16:creationId xmlns:a16="http://schemas.microsoft.com/office/drawing/2014/main" id="{BAE0ED8F-D2B8-1ADE-4E51-8DE22FE71D4A}"/>
              </a:ext>
            </a:extLst>
          </p:cNvPr>
          <p:cNvGraphicFramePr>
            <a:graphicFrameLocks noGrp="1"/>
          </p:cNvGraphicFramePr>
          <p:nvPr>
            <p:extLst>
              <p:ext uri="{D42A27DB-BD31-4B8C-83A1-F6EECF244321}">
                <p14:modId xmlns:p14="http://schemas.microsoft.com/office/powerpoint/2010/main" val="175038001"/>
              </p:ext>
            </p:extLst>
          </p:nvPr>
        </p:nvGraphicFramePr>
        <p:xfrm>
          <a:off x="612648" y="5030216"/>
          <a:ext cx="4181634" cy="1178560"/>
        </p:xfrm>
        <a:graphic>
          <a:graphicData uri="http://schemas.openxmlformats.org/drawingml/2006/table">
            <a:tbl>
              <a:tblPr>
                <a:tableStyleId>{2D5ABB26-0587-4C30-8999-92F81FD0307C}</a:tableStyleId>
              </a:tblPr>
              <a:tblGrid>
                <a:gridCol w="1316038">
                  <a:extLst>
                    <a:ext uri="{9D8B030D-6E8A-4147-A177-3AD203B41FA5}">
                      <a16:colId xmlns:a16="http://schemas.microsoft.com/office/drawing/2014/main" val="1175964179"/>
                    </a:ext>
                  </a:extLst>
                </a:gridCol>
                <a:gridCol w="2865596">
                  <a:extLst>
                    <a:ext uri="{9D8B030D-6E8A-4147-A177-3AD203B41FA5}">
                      <a16:colId xmlns:a16="http://schemas.microsoft.com/office/drawing/2014/main" val="4156116617"/>
                    </a:ext>
                  </a:extLst>
                </a:gridCol>
              </a:tblGrid>
              <a:tr h="0">
                <a:tc>
                  <a:txBody>
                    <a:bodyPr/>
                    <a:lstStyle/>
                    <a:p>
                      <a:pPr rtl="0" fontAlgn="t">
                        <a:buNone/>
                      </a:pPr>
                      <a:r>
                        <a:rPr lang="en-US" sz="1100" b="0" u="none" strike="noStrike">
                          <a:solidFill>
                            <a:schemeClr val="bg1"/>
                          </a:solidFill>
                          <a:effectLst/>
                        </a:rPr>
                        <a:t>Dewmi Abeykoon</a:t>
                      </a:r>
                      <a:endParaRPr lang="en-US">
                        <a:solidFill>
                          <a:schemeClr val="bg1"/>
                        </a:solidFill>
                        <a:effectLst/>
                      </a:endParaRPr>
                    </a:p>
                  </a:txBody>
                  <a:tcPr marL="63500" marR="63500" marT="63500" marB="63500"/>
                </a:tc>
                <a:tc>
                  <a:txBody>
                    <a:bodyPr/>
                    <a:lstStyle/>
                    <a:p>
                      <a:pPr rtl="0" fontAlgn="t">
                        <a:buNone/>
                      </a:pPr>
                      <a:r>
                        <a:rPr lang="en-US" sz="1100" b="0" u="none" strike="noStrike">
                          <a:solidFill>
                            <a:schemeClr val="bg1"/>
                          </a:solidFill>
                          <a:effectLst/>
                        </a:rPr>
                        <a:t>CIT-23-02-0090</a:t>
                      </a:r>
                      <a:endParaRPr lang="en-US">
                        <a:solidFill>
                          <a:schemeClr val="bg1"/>
                        </a:solidFill>
                        <a:effectLst/>
                      </a:endParaRPr>
                    </a:p>
                  </a:txBody>
                  <a:tcPr marL="63500" marR="63500" marT="63500" marB="63500"/>
                </a:tc>
                <a:extLst>
                  <a:ext uri="{0D108BD9-81ED-4DB2-BD59-A6C34878D82A}">
                    <a16:rowId xmlns:a16="http://schemas.microsoft.com/office/drawing/2014/main" val="3689288745"/>
                  </a:ext>
                </a:extLst>
              </a:tr>
              <a:tr h="0">
                <a:tc>
                  <a:txBody>
                    <a:bodyPr/>
                    <a:lstStyle/>
                    <a:p>
                      <a:pPr rtl="0" fontAlgn="t">
                        <a:buNone/>
                      </a:pPr>
                      <a:r>
                        <a:rPr lang="en-US" sz="1100" b="0" u="none" strike="noStrike">
                          <a:solidFill>
                            <a:schemeClr val="bg1"/>
                          </a:solidFill>
                          <a:effectLst/>
                        </a:rPr>
                        <a:t>Sithmi Umeshika</a:t>
                      </a:r>
                      <a:endParaRPr lang="en-US">
                        <a:solidFill>
                          <a:schemeClr val="bg1"/>
                        </a:solidFill>
                        <a:effectLst/>
                      </a:endParaRPr>
                    </a:p>
                  </a:txBody>
                  <a:tcPr marL="63500" marR="63500" marT="63500" marB="63500"/>
                </a:tc>
                <a:tc>
                  <a:txBody>
                    <a:bodyPr/>
                    <a:lstStyle/>
                    <a:p>
                      <a:pPr rtl="0" fontAlgn="t">
                        <a:buNone/>
                      </a:pPr>
                      <a:r>
                        <a:rPr lang="en-US" sz="1100" b="0" u="none" strike="noStrike">
                          <a:solidFill>
                            <a:schemeClr val="bg1"/>
                          </a:solidFill>
                          <a:effectLst/>
                        </a:rPr>
                        <a:t>23UG1-0078</a:t>
                      </a:r>
                      <a:endParaRPr lang="en-US">
                        <a:solidFill>
                          <a:schemeClr val="bg1"/>
                        </a:solidFill>
                        <a:effectLst/>
                      </a:endParaRPr>
                    </a:p>
                  </a:txBody>
                  <a:tcPr marL="63500" marR="63500" marT="63500" marB="63500"/>
                </a:tc>
                <a:extLst>
                  <a:ext uri="{0D108BD9-81ED-4DB2-BD59-A6C34878D82A}">
                    <a16:rowId xmlns:a16="http://schemas.microsoft.com/office/drawing/2014/main" val="592803848"/>
                  </a:ext>
                </a:extLst>
              </a:tr>
              <a:tr h="0">
                <a:tc>
                  <a:txBody>
                    <a:bodyPr/>
                    <a:lstStyle/>
                    <a:p>
                      <a:pPr rtl="0" fontAlgn="t">
                        <a:buNone/>
                      </a:pPr>
                      <a:r>
                        <a:rPr lang="en-US" sz="1100" b="0" u="none" strike="noStrike">
                          <a:solidFill>
                            <a:schemeClr val="bg1"/>
                          </a:solidFill>
                          <a:effectLst/>
                        </a:rPr>
                        <a:t>Samoshi Rupasingha</a:t>
                      </a:r>
                      <a:endParaRPr lang="en-US">
                        <a:solidFill>
                          <a:schemeClr val="bg1"/>
                        </a:solidFill>
                        <a:effectLst/>
                      </a:endParaRPr>
                    </a:p>
                  </a:txBody>
                  <a:tcPr marL="63500" marR="63500" marT="63500" marB="63500"/>
                </a:tc>
                <a:tc>
                  <a:txBody>
                    <a:bodyPr/>
                    <a:lstStyle/>
                    <a:p>
                      <a:pPr rtl="0" fontAlgn="t">
                        <a:buNone/>
                      </a:pPr>
                      <a:r>
                        <a:rPr lang="en-US" sz="1100" b="0" u="none" strike="noStrike" dirty="0">
                          <a:solidFill>
                            <a:schemeClr val="bg1"/>
                          </a:solidFill>
                          <a:effectLst/>
                        </a:rPr>
                        <a:t>23UG1-0118</a:t>
                      </a:r>
                      <a:endParaRPr lang="en-US" dirty="0">
                        <a:solidFill>
                          <a:schemeClr val="bg1"/>
                        </a:solidFill>
                        <a:effectLst/>
                      </a:endParaRPr>
                    </a:p>
                  </a:txBody>
                  <a:tcPr marL="63500" marR="63500" marT="63500" marB="63500"/>
                </a:tc>
                <a:extLst>
                  <a:ext uri="{0D108BD9-81ED-4DB2-BD59-A6C34878D82A}">
                    <a16:rowId xmlns:a16="http://schemas.microsoft.com/office/drawing/2014/main" val="4121088870"/>
                  </a:ext>
                </a:extLst>
              </a:tr>
              <a:tr h="0">
                <a:tc>
                  <a:txBody>
                    <a:bodyPr/>
                    <a:lstStyle/>
                    <a:p>
                      <a:pPr rtl="0" fontAlgn="t">
                        <a:buNone/>
                      </a:pPr>
                      <a:r>
                        <a:rPr lang="en-US" sz="1100" b="0" u="none" strike="noStrike" dirty="0">
                          <a:solidFill>
                            <a:schemeClr val="bg1"/>
                          </a:solidFill>
                          <a:effectLst/>
                        </a:rPr>
                        <a:t>Gihan Chathuranga</a:t>
                      </a:r>
                      <a:endParaRPr lang="en-US" dirty="0">
                        <a:solidFill>
                          <a:schemeClr val="bg1"/>
                        </a:solidFill>
                        <a:effectLst/>
                      </a:endParaRPr>
                    </a:p>
                  </a:txBody>
                  <a:tcPr marL="63500" marR="63500" marT="63500" marB="63500"/>
                </a:tc>
                <a:tc>
                  <a:txBody>
                    <a:bodyPr/>
                    <a:lstStyle/>
                    <a:p>
                      <a:pPr rtl="0" fontAlgn="t">
                        <a:buNone/>
                      </a:pPr>
                      <a:r>
                        <a:rPr lang="en-US" sz="1100" b="0" u="none" strike="noStrike" dirty="0">
                          <a:solidFill>
                            <a:schemeClr val="bg1"/>
                          </a:solidFill>
                          <a:effectLst/>
                        </a:rPr>
                        <a:t>23UG1-0119</a:t>
                      </a:r>
                      <a:endParaRPr lang="en-US" dirty="0">
                        <a:solidFill>
                          <a:schemeClr val="bg1"/>
                        </a:solidFill>
                        <a:effectLst/>
                      </a:endParaRPr>
                    </a:p>
                  </a:txBody>
                  <a:tcPr marL="63500" marR="63500" marT="63500" marB="63500"/>
                </a:tc>
                <a:extLst>
                  <a:ext uri="{0D108BD9-81ED-4DB2-BD59-A6C34878D82A}">
                    <a16:rowId xmlns:a16="http://schemas.microsoft.com/office/drawing/2014/main" val="364503899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dirty="0"/>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Presentation roadmap</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endParaRPr lang="en-US" sz="1080" dirty="0"/>
          </a:p>
        </p:txBody>
      </p:sp>
      <p:sp>
        <p:nvSpPr>
          <p:cNvPr id="7" name="Shape 5"/>
          <p:cNvSpPr/>
          <p:nvPr/>
        </p:nvSpPr>
        <p:spPr>
          <a:xfrm>
            <a:off x="779016" y="973836"/>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85800" y="141732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10" name="Text 8"/>
          <p:cNvSpPr/>
          <p:nvPr/>
        </p:nvSpPr>
        <p:spPr>
          <a:xfrm>
            <a:off x="850392" y="159105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01</a:t>
            </a:r>
            <a:endParaRPr lang="en-US" sz="2000" dirty="0"/>
          </a:p>
        </p:txBody>
      </p:sp>
      <p:sp>
        <p:nvSpPr>
          <p:cNvPr id="11" name="Text 9"/>
          <p:cNvSpPr/>
          <p:nvPr/>
        </p:nvSpPr>
        <p:spPr>
          <a:xfrm>
            <a:off x="1490472" y="157276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Problem &amp; objectives</a:t>
            </a:r>
            <a:endParaRPr lang="en-US" sz="1550" dirty="0"/>
          </a:p>
        </p:txBody>
      </p:sp>
      <p:sp>
        <p:nvSpPr>
          <p:cNvPr id="12" name="Text 10"/>
          <p:cNvSpPr/>
          <p:nvPr/>
        </p:nvSpPr>
        <p:spPr>
          <a:xfrm>
            <a:off x="1490472" y="189280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Why graph learning is needed for citation networks</a:t>
            </a:r>
            <a:endParaRPr lang="en-US" sz="1050" dirty="0"/>
          </a:p>
        </p:txBody>
      </p:sp>
      <p:sp>
        <p:nvSpPr>
          <p:cNvPr id="13" name="Shape 11"/>
          <p:cNvSpPr/>
          <p:nvPr/>
        </p:nvSpPr>
        <p:spPr>
          <a:xfrm>
            <a:off x="6263640" y="141732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14" name="Text 12"/>
          <p:cNvSpPr/>
          <p:nvPr/>
        </p:nvSpPr>
        <p:spPr>
          <a:xfrm>
            <a:off x="6428232" y="159105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02</a:t>
            </a:r>
            <a:endParaRPr lang="en-US" sz="2000" dirty="0"/>
          </a:p>
        </p:txBody>
      </p:sp>
      <p:sp>
        <p:nvSpPr>
          <p:cNvPr id="15" name="Text 13"/>
          <p:cNvSpPr/>
          <p:nvPr/>
        </p:nvSpPr>
        <p:spPr>
          <a:xfrm>
            <a:off x="7068312" y="157276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Dataset &amp; tensor workflow</a:t>
            </a:r>
            <a:endParaRPr lang="en-US" sz="1550" dirty="0"/>
          </a:p>
        </p:txBody>
      </p:sp>
      <p:sp>
        <p:nvSpPr>
          <p:cNvPr id="16" name="Text 14"/>
          <p:cNvSpPr/>
          <p:nvPr/>
        </p:nvSpPr>
        <p:spPr>
          <a:xfrm>
            <a:off x="7068312" y="189280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How OGBN-Arxiv is represented in tensors</a:t>
            </a:r>
            <a:endParaRPr lang="en-US" sz="1050" dirty="0"/>
          </a:p>
        </p:txBody>
      </p:sp>
      <p:sp>
        <p:nvSpPr>
          <p:cNvPr id="17" name="Shape 15"/>
          <p:cNvSpPr/>
          <p:nvPr/>
        </p:nvSpPr>
        <p:spPr>
          <a:xfrm>
            <a:off x="685800" y="283464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18" name="Text 16"/>
          <p:cNvSpPr/>
          <p:nvPr/>
        </p:nvSpPr>
        <p:spPr>
          <a:xfrm>
            <a:off x="850392" y="300837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03</a:t>
            </a:r>
            <a:endParaRPr lang="en-US" sz="2000" dirty="0"/>
          </a:p>
        </p:txBody>
      </p:sp>
      <p:sp>
        <p:nvSpPr>
          <p:cNvPr id="19" name="Text 17"/>
          <p:cNvSpPr/>
          <p:nvPr/>
        </p:nvSpPr>
        <p:spPr>
          <a:xfrm>
            <a:off x="1490472" y="299008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Graph analysis &amp; preparation</a:t>
            </a:r>
            <a:endParaRPr lang="en-US" sz="1550" dirty="0"/>
          </a:p>
        </p:txBody>
      </p:sp>
      <p:sp>
        <p:nvSpPr>
          <p:cNvPr id="20" name="Text 18"/>
          <p:cNvSpPr/>
          <p:nvPr/>
        </p:nvSpPr>
        <p:spPr>
          <a:xfrm>
            <a:off x="1490472" y="331012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Edge list, sparsity, splits and normalization</a:t>
            </a:r>
            <a:endParaRPr lang="en-US" sz="1050" dirty="0"/>
          </a:p>
        </p:txBody>
      </p:sp>
      <p:sp>
        <p:nvSpPr>
          <p:cNvPr id="21" name="Shape 19"/>
          <p:cNvSpPr/>
          <p:nvPr/>
        </p:nvSpPr>
        <p:spPr>
          <a:xfrm>
            <a:off x="6263640" y="283464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22" name="Text 20"/>
          <p:cNvSpPr/>
          <p:nvPr/>
        </p:nvSpPr>
        <p:spPr>
          <a:xfrm>
            <a:off x="6428232" y="300837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04</a:t>
            </a:r>
            <a:endParaRPr lang="en-US" sz="2000" dirty="0"/>
          </a:p>
        </p:txBody>
      </p:sp>
      <p:sp>
        <p:nvSpPr>
          <p:cNvPr id="23" name="Text 21"/>
          <p:cNvSpPr/>
          <p:nvPr/>
        </p:nvSpPr>
        <p:spPr>
          <a:xfrm>
            <a:off x="7068312" y="299008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GCN and GraphSAGE</a:t>
            </a:r>
            <a:endParaRPr lang="en-US" sz="1550" dirty="0"/>
          </a:p>
        </p:txBody>
      </p:sp>
      <p:sp>
        <p:nvSpPr>
          <p:cNvPr id="24" name="Text 22"/>
          <p:cNvSpPr/>
          <p:nvPr/>
        </p:nvSpPr>
        <p:spPr>
          <a:xfrm>
            <a:off x="7068312" y="331012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Two GNN architectures for node classification</a:t>
            </a:r>
            <a:endParaRPr lang="en-US" sz="1050" dirty="0"/>
          </a:p>
        </p:txBody>
      </p:sp>
      <p:sp>
        <p:nvSpPr>
          <p:cNvPr id="25" name="Shape 23"/>
          <p:cNvSpPr/>
          <p:nvPr/>
        </p:nvSpPr>
        <p:spPr>
          <a:xfrm>
            <a:off x="685800" y="425196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26" name="Text 24"/>
          <p:cNvSpPr/>
          <p:nvPr/>
        </p:nvSpPr>
        <p:spPr>
          <a:xfrm>
            <a:off x="850392" y="442569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05</a:t>
            </a:r>
            <a:endParaRPr lang="en-US" sz="2000" dirty="0"/>
          </a:p>
        </p:txBody>
      </p:sp>
      <p:sp>
        <p:nvSpPr>
          <p:cNvPr id="27" name="Text 25"/>
          <p:cNvSpPr/>
          <p:nvPr/>
        </p:nvSpPr>
        <p:spPr>
          <a:xfrm>
            <a:off x="1490472" y="440740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Training, tuning &amp; evaluation</a:t>
            </a:r>
            <a:endParaRPr lang="en-US" sz="1550" dirty="0"/>
          </a:p>
        </p:txBody>
      </p:sp>
      <p:sp>
        <p:nvSpPr>
          <p:cNvPr id="28" name="Text 26"/>
          <p:cNvSpPr/>
          <p:nvPr/>
        </p:nvSpPr>
        <p:spPr>
          <a:xfrm>
            <a:off x="1490472" y="472744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Adam, cross-entropy, early stopping and final metrics</a:t>
            </a:r>
            <a:endParaRPr lang="en-US" sz="1050" dirty="0"/>
          </a:p>
        </p:txBody>
      </p:sp>
      <p:sp>
        <p:nvSpPr>
          <p:cNvPr id="29" name="Shape 27"/>
          <p:cNvSpPr/>
          <p:nvPr/>
        </p:nvSpPr>
        <p:spPr>
          <a:xfrm>
            <a:off x="6263640" y="4251960"/>
            <a:ext cx="4937760" cy="932688"/>
          </a:xfrm>
          <a:prstGeom prst="roundRect">
            <a:avLst>
              <a:gd name="adj" fmla="val 11765"/>
            </a:avLst>
          </a:prstGeom>
          <a:solidFill>
            <a:srgbClr val="0D1F36"/>
          </a:solidFill>
          <a:ln w="7620">
            <a:solidFill>
              <a:srgbClr val="23374F"/>
            </a:solidFill>
            <a:prstDash val="solid"/>
          </a:ln>
        </p:spPr>
        <p:txBody>
          <a:bodyPr/>
          <a:lstStyle/>
          <a:p>
            <a:endParaRPr lang="en-US"/>
          </a:p>
        </p:txBody>
      </p:sp>
      <p:sp>
        <p:nvSpPr>
          <p:cNvPr id="30" name="Text 28"/>
          <p:cNvSpPr/>
          <p:nvPr/>
        </p:nvSpPr>
        <p:spPr>
          <a:xfrm>
            <a:off x="6428232" y="4425696"/>
            <a:ext cx="502920" cy="365760"/>
          </a:xfrm>
          <a:prstGeom prst="rect">
            <a:avLst/>
          </a:prstGeom>
          <a:noFill/>
          <a:ln/>
        </p:spPr>
        <p:txBody>
          <a:bodyPr wrap="square" lIns="0" tIns="0" rIns="0" bIns="0" rtlCol="0" anchor="ctr"/>
          <a:lstStyle/>
          <a:p>
            <a:pPr marL="0" indent="0">
              <a:buNone/>
            </a:pPr>
            <a:r>
              <a:rPr lang="en-US" sz="2000" b="1" dirty="0">
                <a:solidFill>
                  <a:srgbClr val="37D6E5"/>
                </a:solidFill>
              </a:rPr>
              <a:t>06</a:t>
            </a:r>
            <a:endParaRPr lang="en-US" sz="2000" dirty="0"/>
          </a:p>
        </p:txBody>
      </p:sp>
      <p:sp>
        <p:nvSpPr>
          <p:cNvPr id="31" name="Text 29"/>
          <p:cNvSpPr/>
          <p:nvPr/>
        </p:nvSpPr>
        <p:spPr>
          <a:xfrm>
            <a:off x="7068312" y="4407408"/>
            <a:ext cx="3749040" cy="256032"/>
          </a:xfrm>
          <a:prstGeom prst="rect">
            <a:avLst/>
          </a:prstGeom>
          <a:noFill/>
          <a:ln/>
        </p:spPr>
        <p:txBody>
          <a:bodyPr wrap="square" lIns="0" tIns="0" rIns="0" bIns="0" rtlCol="0" anchor="ctr"/>
          <a:lstStyle/>
          <a:p>
            <a:pPr marL="0" indent="0">
              <a:buNone/>
            </a:pPr>
            <a:r>
              <a:rPr lang="en-US" sz="1550" b="1" dirty="0">
                <a:solidFill>
                  <a:srgbClr val="FFFFFF"/>
                </a:solidFill>
              </a:rPr>
              <a:t>Explainability &amp; dashboard</a:t>
            </a:r>
            <a:endParaRPr lang="en-US" sz="1550" dirty="0"/>
          </a:p>
        </p:txBody>
      </p:sp>
      <p:sp>
        <p:nvSpPr>
          <p:cNvPr id="32" name="Text 30"/>
          <p:cNvSpPr/>
          <p:nvPr/>
        </p:nvSpPr>
        <p:spPr>
          <a:xfrm>
            <a:off x="7068312" y="4727448"/>
            <a:ext cx="3794760" cy="292608"/>
          </a:xfrm>
          <a:prstGeom prst="rect">
            <a:avLst/>
          </a:prstGeom>
          <a:noFill/>
          <a:ln/>
        </p:spPr>
        <p:txBody>
          <a:bodyPr wrap="square" lIns="0" tIns="0" rIns="0" bIns="0" rtlCol="0" anchor="ctr">
            <a:normAutofit/>
          </a:bodyPr>
          <a:lstStyle/>
          <a:p>
            <a:pPr marL="0" indent="0">
              <a:buNone/>
            </a:pPr>
            <a:r>
              <a:rPr lang="en-US" sz="1050" dirty="0">
                <a:solidFill>
                  <a:srgbClr val="B8C6D8"/>
                </a:solidFill>
              </a:rPr>
              <a:t>PCA, neighborhood influence, ablation and Streamlit</a:t>
            </a:r>
            <a:endParaRPr lang="en-US" sz="1050" dirty="0"/>
          </a:p>
        </p:txBody>
      </p:sp>
      <p:sp>
        <p:nvSpPr>
          <p:cNvPr id="34" name="Text 32"/>
          <p:cNvSpPr/>
          <p:nvPr/>
        </p:nvSpPr>
        <p:spPr>
          <a:xfrm>
            <a:off x="8394192" y="5614416"/>
            <a:ext cx="2642616" cy="228600"/>
          </a:xfrm>
          <a:prstGeom prst="rect">
            <a:avLst/>
          </a:prstGeom>
          <a:noFill/>
          <a:ln/>
        </p:spPr>
        <p:txBody>
          <a:bodyPr wrap="square" lIns="0" tIns="0" rIns="0" bIns="0" rtlCol="0" anchor="ctr"/>
          <a:lstStyle/>
          <a:p>
            <a:pPr marL="0" indent="0">
              <a:buNone/>
            </a:pPr>
            <a:endParaRPr lang="en-US" sz="1350" dirty="0"/>
          </a:p>
        </p:txBody>
      </p:sp>
      <p:sp>
        <p:nvSpPr>
          <p:cNvPr id="35" name="Text 33"/>
          <p:cNvSpPr/>
          <p:nvPr/>
        </p:nvSpPr>
        <p:spPr>
          <a:xfrm>
            <a:off x="8394192" y="5925312"/>
            <a:ext cx="2642616" cy="274320"/>
          </a:xfrm>
          <a:prstGeom prst="rect">
            <a:avLst/>
          </a:prstGeom>
          <a:noFill/>
          <a:ln/>
        </p:spPr>
        <p:txBody>
          <a:bodyPr wrap="square" lIns="0" tIns="0" rIns="0" bIns="0" rtlCol="0" anchor="t">
            <a:normAutofit/>
          </a:bodyPr>
          <a:lstStyle/>
          <a:p>
            <a:pPr marL="0" indent="0">
              <a:buNone/>
            </a:pPr>
            <a:endParaRPr lang="en-US" sz="1220" dirty="0"/>
          </a:p>
        </p:txBody>
      </p:sp>
      <p:sp>
        <p:nvSpPr>
          <p:cNvPr id="37" name="Text 34"/>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38" name="Text 35"/>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dirty="0"/>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Dataset: OGBN-Arxiv citation network</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Large-scale multi-class node classification</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9" name="Text 7"/>
          <p:cNvSpPr/>
          <p:nvPr/>
        </p:nvSpPr>
        <p:spPr>
          <a:xfrm>
            <a:off x="640080" y="1417320"/>
            <a:ext cx="210312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169,343</a:t>
            </a:r>
            <a:endParaRPr lang="en-US" sz="2500" dirty="0"/>
          </a:p>
        </p:txBody>
      </p:sp>
      <p:sp>
        <p:nvSpPr>
          <p:cNvPr id="10" name="Text 8"/>
          <p:cNvSpPr/>
          <p:nvPr/>
        </p:nvSpPr>
        <p:spPr>
          <a:xfrm>
            <a:off x="640080" y="1856232"/>
            <a:ext cx="210312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Research-paper nodes</a:t>
            </a:r>
            <a:endParaRPr lang="en-US" sz="950" dirty="0"/>
          </a:p>
        </p:txBody>
      </p:sp>
      <p:sp>
        <p:nvSpPr>
          <p:cNvPr id="11" name="Shape 9"/>
          <p:cNvSpPr/>
          <p:nvPr/>
        </p:nvSpPr>
        <p:spPr>
          <a:xfrm>
            <a:off x="640080" y="2130552"/>
            <a:ext cx="1005840" cy="0"/>
          </a:xfrm>
          <a:prstGeom prst="line">
            <a:avLst/>
          </a:prstGeom>
          <a:noFill/>
          <a:ln w="20320">
            <a:solidFill>
              <a:srgbClr val="37D6E5"/>
            </a:solidFill>
            <a:prstDash val="solid"/>
          </a:ln>
        </p:spPr>
        <p:txBody>
          <a:bodyPr/>
          <a:lstStyle/>
          <a:p>
            <a:endParaRPr lang="en-US"/>
          </a:p>
        </p:txBody>
      </p:sp>
      <p:sp>
        <p:nvSpPr>
          <p:cNvPr id="12" name="Text 10"/>
          <p:cNvSpPr/>
          <p:nvPr/>
        </p:nvSpPr>
        <p:spPr>
          <a:xfrm>
            <a:off x="2971800" y="1417320"/>
            <a:ext cx="237744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1,166,243</a:t>
            </a:r>
            <a:endParaRPr lang="en-US" sz="2500" dirty="0"/>
          </a:p>
        </p:txBody>
      </p:sp>
      <p:sp>
        <p:nvSpPr>
          <p:cNvPr id="13" name="Text 11"/>
          <p:cNvSpPr/>
          <p:nvPr/>
        </p:nvSpPr>
        <p:spPr>
          <a:xfrm>
            <a:off x="2971800" y="1856232"/>
            <a:ext cx="237744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Directed citation edges</a:t>
            </a:r>
            <a:endParaRPr lang="en-US" sz="950" dirty="0"/>
          </a:p>
        </p:txBody>
      </p:sp>
      <p:sp>
        <p:nvSpPr>
          <p:cNvPr id="14" name="Shape 12"/>
          <p:cNvSpPr/>
          <p:nvPr/>
        </p:nvSpPr>
        <p:spPr>
          <a:xfrm>
            <a:off x="2971800" y="2130552"/>
            <a:ext cx="1005840" cy="0"/>
          </a:xfrm>
          <a:prstGeom prst="line">
            <a:avLst/>
          </a:prstGeom>
          <a:noFill/>
          <a:ln w="20320">
            <a:solidFill>
              <a:srgbClr val="4F8BFF"/>
            </a:solidFill>
            <a:prstDash val="solid"/>
          </a:ln>
        </p:spPr>
        <p:txBody>
          <a:bodyPr/>
          <a:lstStyle/>
          <a:p>
            <a:endParaRPr lang="en-US"/>
          </a:p>
        </p:txBody>
      </p:sp>
      <p:sp>
        <p:nvSpPr>
          <p:cNvPr id="15" name="Text 13"/>
          <p:cNvSpPr/>
          <p:nvPr/>
        </p:nvSpPr>
        <p:spPr>
          <a:xfrm>
            <a:off x="5623560" y="1417320"/>
            <a:ext cx="219456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128</a:t>
            </a:r>
            <a:endParaRPr lang="en-US" sz="2500" dirty="0"/>
          </a:p>
        </p:txBody>
      </p:sp>
      <p:sp>
        <p:nvSpPr>
          <p:cNvPr id="16" name="Text 14"/>
          <p:cNvSpPr/>
          <p:nvPr/>
        </p:nvSpPr>
        <p:spPr>
          <a:xfrm>
            <a:off x="5623560" y="1856232"/>
            <a:ext cx="219456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Node feature dimensions</a:t>
            </a:r>
            <a:endParaRPr lang="en-US" sz="950" dirty="0"/>
          </a:p>
        </p:txBody>
      </p:sp>
      <p:sp>
        <p:nvSpPr>
          <p:cNvPr id="17" name="Shape 15"/>
          <p:cNvSpPr/>
          <p:nvPr/>
        </p:nvSpPr>
        <p:spPr>
          <a:xfrm>
            <a:off x="5623560" y="2130552"/>
            <a:ext cx="1005840" cy="0"/>
          </a:xfrm>
          <a:prstGeom prst="line">
            <a:avLst/>
          </a:prstGeom>
          <a:noFill/>
          <a:ln w="20320">
            <a:solidFill>
              <a:srgbClr val="FFB703"/>
            </a:solidFill>
            <a:prstDash val="solid"/>
          </a:ln>
        </p:spPr>
        <p:txBody>
          <a:bodyPr/>
          <a:lstStyle/>
          <a:p>
            <a:endParaRPr lang="en-US"/>
          </a:p>
        </p:txBody>
      </p:sp>
      <p:sp>
        <p:nvSpPr>
          <p:cNvPr id="18" name="Text 16"/>
          <p:cNvSpPr/>
          <p:nvPr/>
        </p:nvSpPr>
        <p:spPr>
          <a:xfrm>
            <a:off x="8229600" y="1417320"/>
            <a:ext cx="18288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40</a:t>
            </a:r>
            <a:endParaRPr lang="en-US" sz="2500" dirty="0"/>
          </a:p>
        </p:txBody>
      </p:sp>
      <p:sp>
        <p:nvSpPr>
          <p:cNvPr id="19" name="Text 17"/>
          <p:cNvSpPr/>
          <p:nvPr/>
        </p:nvSpPr>
        <p:spPr>
          <a:xfrm>
            <a:off x="8229600" y="1856232"/>
            <a:ext cx="18288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Research classes</a:t>
            </a:r>
            <a:endParaRPr lang="en-US" sz="950" dirty="0"/>
          </a:p>
        </p:txBody>
      </p:sp>
      <p:sp>
        <p:nvSpPr>
          <p:cNvPr id="20" name="Shape 18"/>
          <p:cNvSpPr/>
          <p:nvPr/>
        </p:nvSpPr>
        <p:spPr>
          <a:xfrm>
            <a:off x="8229600" y="2130552"/>
            <a:ext cx="1005840" cy="0"/>
          </a:xfrm>
          <a:prstGeom prst="line">
            <a:avLst/>
          </a:prstGeom>
          <a:noFill/>
          <a:ln w="20320">
            <a:solidFill>
              <a:srgbClr val="7DD181"/>
            </a:solidFill>
            <a:prstDash val="solid"/>
          </a:ln>
        </p:spPr>
        <p:txBody>
          <a:bodyPr/>
          <a:lstStyle/>
          <a:p>
            <a:endParaRPr lang="en-US"/>
          </a:p>
        </p:txBody>
      </p:sp>
      <p:sp>
        <p:nvSpPr>
          <p:cNvPr id="21" name="Shape 19"/>
          <p:cNvSpPr/>
          <p:nvPr/>
        </p:nvSpPr>
        <p:spPr>
          <a:xfrm>
            <a:off x="658368" y="2423160"/>
            <a:ext cx="9509760" cy="0"/>
          </a:xfrm>
          <a:prstGeom prst="line">
            <a:avLst/>
          </a:prstGeom>
          <a:noFill/>
          <a:ln w="12700">
            <a:solidFill>
              <a:srgbClr val="23374F"/>
            </a:solidFill>
            <a:prstDash val="solid"/>
          </a:ln>
        </p:spPr>
        <p:txBody>
          <a:bodyPr/>
          <a:lstStyle/>
          <a:p>
            <a:endParaRPr lang="en-US"/>
          </a:p>
        </p:txBody>
      </p:sp>
      <p:sp>
        <p:nvSpPr>
          <p:cNvPr id="22" name="Shape 20"/>
          <p:cNvSpPr/>
          <p:nvPr/>
        </p:nvSpPr>
        <p:spPr>
          <a:xfrm>
            <a:off x="667512" y="2770632"/>
            <a:ext cx="5385816" cy="2734056"/>
          </a:xfrm>
          <a:prstGeom prst="roundRect">
            <a:avLst>
              <a:gd name="adj" fmla="val 2676"/>
            </a:avLst>
          </a:prstGeom>
          <a:solidFill>
            <a:srgbClr val="0E2037"/>
          </a:solidFill>
          <a:ln w="8890">
            <a:solidFill>
              <a:srgbClr val="23374F"/>
            </a:solidFill>
            <a:prstDash val="solid"/>
          </a:ln>
        </p:spPr>
        <p:txBody>
          <a:bodyPr/>
          <a:lstStyle/>
          <a:p>
            <a:endParaRPr lang="en-US"/>
          </a:p>
        </p:txBody>
      </p:sp>
      <p:pic>
        <p:nvPicPr>
          <p:cNvPr id="23" name="Image 0" descr="/mnt/data/extracted_report_images/p23_img1.png"/>
          <p:cNvPicPr>
            <a:picLocks noChangeAspect="1"/>
          </p:cNvPicPr>
          <p:nvPr/>
        </p:nvPicPr>
        <p:blipFill>
          <a:blip r:embed="rId3"/>
          <a:stretch>
            <a:fillRect/>
          </a:stretch>
        </p:blipFill>
        <p:spPr>
          <a:xfrm>
            <a:off x="685800" y="2814716"/>
            <a:ext cx="5349240" cy="2645889"/>
          </a:xfrm>
          <a:prstGeom prst="rect">
            <a:avLst/>
          </a:prstGeom>
        </p:spPr>
      </p:pic>
      <p:sp>
        <p:nvSpPr>
          <p:cNvPr id="24" name="Shape 21"/>
          <p:cNvSpPr/>
          <p:nvPr/>
        </p:nvSpPr>
        <p:spPr>
          <a:xfrm>
            <a:off x="6446520" y="2834640"/>
            <a:ext cx="4754880" cy="1234440"/>
          </a:xfrm>
          <a:prstGeom prst="roundRect">
            <a:avLst>
              <a:gd name="adj" fmla="val 8889"/>
            </a:avLst>
          </a:prstGeom>
          <a:solidFill>
            <a:srgbClr val="0D1F36"/>
          </a:solidFill>
          <a:ln w="11430">
            <a:solidFill>
              <a:srgbClr val="37D6E5">
                <a:alpha val="75000"/>
              </a:srgbClr>
            </a:solidFill>
            <a:prstDash val="solid"/>
          </a:ln>
        </p:spPr>
        <p:txBody>
          <a:bodyPr/>
          <a:lstStyle/>
          <a:p>
            <a:endParaRPr lang="en-US"/>
          </a:p>
        </p:txBody>
      </p:sp>
      <p:sp>
        <p:nvSpPr>
          <p:cNvPr id="25" name="Text 22"/>
          <p:cNvSpPr/>
          <p:nvPr/>
        </p:nvSpPr>
        <p:spPr>
          <a:xfrm>
            <a:off x="6611112" y="2962656"/>
            <a:ext cx="4425696" cy="228600"/>
          </a:xfrm>
          <a:prstGeom prst="rect">
            <a:avLst/>
          </a:prstGeom>
          <a:noFill/>
          <a:ln/>
        </p:spPr>
        <p:txBody>
          <a:bodyPr wrap="square" lIns="0" tIns="0" rIns="0" bIns="0" rtlCol="0" anchor="ctr"/>
          <a:lstStyle/>
          <a:p>
            <a:pPr marL="0" indent="0">
              <a:buNone/>
            </a:pPr>
            <a:r>
              <a:rPr lang="en-US" sz="1350" b="1" dirty="0">
                <a:solidFill>
                  <a:srgbClr val="37D6E5"/>
                </a:solidFill>
              </a:rPr>
              <a:t>Classification task</a:t>
            </a:r>
            <a:endParaRPr lang="en-US" sz="1350" dirty="0"/>
          </a:p>
        </p:txBody>
      </p:sp>
      <p:sp>
        <p:nvSpPr>
          <p:cNvPr id="26" name="Text 23"/>
          <p:cNvSpPr/>
          <p:nvPr/>
        </p:nvSpPr>
        <p:spPr>
          <a:xfrm>
            <a:off x="6611112" y="3273552"/>
            <a:ext cx="4425696" cy="685800"/>
          </a:xfrm>
          <a:prstGeom prst="rect">
            <a:avLst/>
          </a:prstGeom>
          <a:noFill/>
          <a:ln/>
        </p:spPr>
        <p:txBody>
          <a:bodyPr wrap="square" lIns="0" tIns="0" rIns="0" bIns="0" rtlCol="0" anchor="t">
            <a:normAutofit/>
          </a:bodyPr>
          <a:lstStyle/>
          <a:p>
            <a:pPr marL="0" indent="0">
              <a:buNone/>
            </a:pPr>
            <a:r>
              <a:rPr lang="en-US" sz="1220" dirty="0">
                <a:solidFill>
                  <a:srgbClr val="B8C6D8"/>
                </a:solidFill>
              </a:rPr>
              <a:t>Each paper is a node. Citation links define graph structure. The target is to classify every paper into one of 40 research categories using both features and neighborhood information.</a:t>
            </a:r>
            <a:endParaRPr lang="en-US" sz="1220" dirty="0"/>
          </a:p>
        </p:txBody>
      </p:sp>
      <p:sp>
        <p:nvSpPr>
          <p:cNvPr id="27" name="Shape 24"/>
          <p:cNvSpPr/>
          <p:nvPr/>
        </p:nvSpPr>
        <p:spPr>
          <a:xfrm>
            <a:off x="6446520" y="4370832"/>
            <a:ext cx="4754880" cy="960120"/>
          </a:xfrm>
          <a:prstGeom prst="roundRect">
            <a:avLst>
              <a:gd name="adj" fmla="val 11429"/>
            </a:avLst>
          </a:prstGeom>
          <a:solidFill>
            <a:srgbClr val="0D1F36"/>
          </a:solidFill>
          <a:ln w="11430">
            <a:solidFill>
              <a:srgbClr val="FFB703">
                <a:alpha val="75000"/>
              </a:srgbClr>
            </a:solidFill>
            <a:prstDash val="solid"/>
          </a:ln>
        </p:spPr>
        <p:txBody>
          <a:bodyPr/>
          <a:lstStyle/>
          <a:p>
            <a:endParaRPr lang="en-US"/>
          </a:p>
        </p:txBody>
      </p:sp>
      <p:sp>
        <p:nvSpPr>
          <p:cNvPr id="28" name="Text 25"/>
          <p:cNvSpPr/>
          <p:nvPr/>
        </p:nvSpPr>
        <p:spPr>
          <a:xfrm>
            <a:off x="6611112" y="4498848"/>
            <a:ext cx="4425696" cy="228600"/>
          </a:xfrm>
          <a:prstGeom prst="rect">
            <a:avLst/>
          </a:prstGeom>
          <a:noFill/>
          <a:ln/>
        </p:spPr>
        <p:txBody>
          <a:bodyPr wrap="square" lIns="0" tIns="0" rIns="0" bIns="0" rtlCol="0" anchor="ctr"/>
          <a:lstStyle/>
          <a:p>
            <a:pPr marL="0" indent="0">
              <a:buNone/>
            </a:pPr>
            <a:r>
              <a:rPr lang="en-US" sz="1350" b="1" dirty="0">
                <a:solidFill>
                  <a:srgbClr val="FFB703"/>
                </a:solidFill>
              </a:rPr>
              <a:t>Why GNNs?</a:t>
            </a:r>
            <a:endParaRPr lang="en-US" sz="1350" dirty="0"/>
          </a:p>
        </p:txBody>
      </p:sp>
      <p:sp>
        <p:nvSpPr>
          <p:cNvPr id="29" name="Text 26"/>
          <p:cNvSpPr/>
          <p:nvPr/>
        </p:nvSpPr>
        <p:spPr>
          <a:xfrm>
            <a:off x="6611112" y="4704588"/>
            <a:ext cx="4425696" cy="480059"/>
          </a:xfrm>
          <a:prstGeom prst="rect">
            <a:avLst/>
          </a:prstGeom>
          <a:noFill/>
          <a:ln/>
        </p:spPr>
        <p:txBody>
          <a:bodyPr wrap="square" lIns="0" tIns="0" rIns="0" bIns="0" rtlCol="0" anchor="t">
            <a:noAutofit/>
          </a:bodyPr>
          <a:lstStyle/>
          <a:p>
            <a:pPr marL="0" indent="0">
              <a:buNone/>
            </a:pPr>
            <a:r>
              <a:rPr lang="en-US" sz="1200" dirty="0">
                <a:solidFill>
                  <a:srgbClr val="B8C6D8"/>
                </a:solidFill>
              </a:rPr>
              <a:t>A traditional classifier uses only node features. A GNN also uses citation relationships, allowing connected papers to exchange information through message passing.</a:t>
            </a:r>
            <a:endParaRPr lang="en-US" sz="1200" dirty="0"/>
          </a:p>
        </p:txBody>
      </p:sp>
      <p:sp>
        <p:nvSpPr>
          <p:cNvPr id="31" name="Text 27"/>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32" name="Text 28"/>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Tensor fundamentals used in the workflow</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PyTorch tensors support the complete GNN pipeline</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9" name="Shape 7"/>
          <p:cNvSpPr/>
          <p:nvPr/>
        </p:nvSpPr>
        <p:spPr>
          <a:xfrm>
            <a:off x="731520" y="1417320"/>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10" name="Text 8"/>
          <p:cNvSpPr/>
          <p:nvPr/>
        </p:nvSpPr>
        <p:spPr>
          <a:xfrm>
            <a:off x="932688" y="1527048"/>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Tensor creation</a:t>
            </a:r>
            <a:endParaRPr lang="en-US" sz="1450" dirty="0"/>
          </a:p>
        </p:txBody>
      </p:sp>
      <p:sp>
        <p:nvSpPr>
          <p:cNvPr id="11" name="Text 9"/>
          <p:cNvSpPr/>
          <p:nvPr/>
        </p:nvSpPr>
        <p:spPr>
          <a:xfrm>
            <a:off x="932688" y="1810512"/>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Node features and labels are represented as tensors</a:t>
            </a:r>
            <a:endParaRPr lang="en-US" sz="1060" dirty="0"/>
          </a:p>
        </p:txBody>
      </p:sp>
      <p:sp>
        <p:nvSpPr>
          <p:cNvPr id="12" name="Shape 10"/>
          <p:cNvSpPr/>
          <p:nvPr/>
        </p:nvSpPr>
        <p:spPr>
          <a:xfrm>
            <a:off x="6172200" y="1417320"/>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13" name="Text 11"/>
          <p:cNvSpPr/>
          <p:nvPr/>
        </p:nvSpPr>
        <p:spPr>
          <a:xfrm>
            <a:off x="6373368" y="1527048"/>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Indexing</a:t>
            </a:r>
            <a:endParaRPr lang="en-US" sz="1450" dirty="0"/>
          </a:p>
        </p:txBody>
      </p:sp>
      <p:sp>
        <p:nvSpPr>
          <p:cNvPr id="14" name="Text 12"/>
          <p:cNvSpPr/>
          <p:nvPr/>
        </p:nvSpPr>
        <p:spPr>
          <a:xfrm>
            <a:off x="6373368" y="1810512"/>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Training, validation and test nodes are selected by index tensors</a:t>
            </a:r>
            <a:endParaRPr lang="en-US" sz="1060" dirty="0"/>
          </a:p>
        </p:txBody>
      </p:sp>
      <p:sp>
        <p:nvSpPr>
          <p:cNvPr id="15" name="Shape 13"/>
          <p:cNvSpPr/>
          <p:nvPr/>
        </p:nvSpPr>
        <p:spPr>
          <a:xfrm>
            <a:off x="731520" y="2624328"/>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16" name="Text 14"/>
          <p:cNvSpPr/>
          <p:nvPr/>
        </p:nvSpPr>
        <p:spPr>
          <a:xfrm>
            <a:off x="932688" y="2734056"/>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Reshaping</a:t>
            </a:r>
            <a:endParaRPr lang="en-US" sz="1450" dirty="0"/>
          </a:p>
        </p:txBody>
      </p:sp>
      <p:sp>
        <p:nvSpPr>
          <p:cNvPr id="17" name="Text 15"/>
          <p:cNvSpPr/>
          <p:nvPr/>
        </p:nvSpPr>
        <p:spPr>
          <a:xfrm>
            <a:off x="932688" y="3017520"/>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Labels and model outputs are aligned for loss calculation</a:t>
            </a:r>
            <a:endParaRPr lang="en-US" sz="1060" dirty="0"/>
          </a:p>
        </p:txBody>
      </p:sp>
      <p:sp>
        <p:nvSpPr>
          <p:cNvPr id="18" name="Shape 16"/>
          <p:cNvSpPr/>
          <p:nvPr/>
        </p:nvSpPr>
        <p:spPr>
          <a:xfrm>
            <a:off x="6172200" y="2624328"/>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19" name="Text 17"/>
          <p:cNvSpPr/>
          <p:nvPr/>
        </p:nvSpPr>
        <p:spPr>
          <a:xfrm>
            <a:off x="6373368" y="2734056"/>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Matrix multiplication</a:t>
            </a:r>
            <a:endParaRPr lang="en-US" sz="1450" dirty="0"/>
          </a:p>
        </p:txBody>
      </p:sp>
      <p:sp>
        <p:nvSpPr>
          <p:cNvPr id="20" name="Text 18"/>
          <p:cNvSpPr/>
          <p:nvPr/>
        </p:nvSpPr>
        <p:spPr>
          <a:xfrm>
            <a:off x="6373368" y="3017520"/>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Feature transformations use learned weight matrices</a:t>
            </a:r>
            <a:endParaRPr lang="en-US" sz="1060" dirty="0"/>
          </a:p>
        </p:txBody>
      </p:sp>
      <p:sp>
        <p:nvSpPr>
          <p:cNvPr id="21" name="Shape 19"/>
          <p:cNvSpPr/>
          <p:nvPr/>
        </p:nvSpPr>
        <p:spPr>
          <a:xfrm>
            <a:off x="731520" y="3831336"/>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22" name="Text 20"/>
          <p:cNvSpPr/>
          <p:nvPr/>
        </p:nvSpPr>
        <p:spPr>
          <a:xfrm>
            <a:off x="932688" y="3941064"/>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Aggregation</a:t>
            </a:r>
            <a:endParaRPr lang="en-US" sz="1450" dirty="0"/>
          </a:p>
        </p:txBody>
      </p:sp>
      <p:sp>
        <p:nvSpPr>
          <p:cNvPr id="23" name="Text 21"/>
          <p:cNvSpPr/>
          <p:nvPr/>
        </p:nvSpPr>
        <p:spPr>
          <a:xfrm>
            <a:off x="932688" y="4224528"/>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Mean and standard deviation support feature normalization</a:t>
            </a:r>
            <a:endParaRPr lang="en-US" sz="1060" dirty="0"/>
          </a:p>
        </p:txBody>
      </p:sp>
      <p:sp>
        <p:nvSpPr>
          <p:cNvPr id="24" name="Shape 22"/>
          <p:cNvSpPr/>
          <p:nvPr/>
        </p:nvSpPr>
        <p:spPr>
          <a:xfrm>
            <a:off x="6172200" y="3831336"/>
            <a:ext cx="4800600" cy="777240"/>
          </a:xfrm>
          <a:prstGeom prst="roundRect">
            <a:avLst>
              <a:gd name="adj" fmla="val 11765"/>
            </a:avLst>
          </a:prstGeom>
          <a:solidFill>
            <a:srgbClr val="0B1B30"/>
          </a:solidFill>
          <a:ln w="7620">
            <a:solidFill>
              <a:srgbClr val="23374F"/>
            </a:solidFill>
            <a:prstDash val="solid"/>
          </a:ln>
        </p:spPr>
        <p:txBody>
          <a:bodyPr/>
          <a:lstStyle/>
          <a:p>
            <a:endParaRPr lang="en-US"/>
          </a:p>
        </p:txBody>
      </p:sp>
      <p:sp>
        <p:nvSpPr>
          <p:cNvPr id="25" name="Text 23"/>
          <p:cNvSpPr/>
          <p:nvPr/>
        </p:nvSpPr>
        <p:spPr>
          <a:xfrm>
            <a:off x="6373368" y="3941064"/>
            <a:ext cx="2286000" cy="228600"/>
          </a:xfrm>
          <a:prstGeom prst="rect">
            <a:avLst/>
          </a:prstGeom>
          <a:noFill/>
          <a:ln/>
        </p:spPr>
        <p:txBody>
          <a:bodyPr wrap="square" lIns="0" tIns="0" rIns="0" bIns="0" rtlCol="0" anchor="ctr"/>
          <a:lstStyle/>
          <a:p>
            <a:pPr marL="0" indent="0">
              <a:buNone/>
            </a:pPr>
            <a:r>
              <a:rPr lang="en-US" sz="1450" b="1" dirty="0">
                <a:solidFill>
                  <a:srgbClr val="37D6E5"/>
                </a:solidFill>
              </a:rPr>
              <a:t>GPU device handling</a:t>
            </a:r>
            <a:endParaRPr lang="en-US" sz="1450" dirty="0"/>
          </a:p>
        </p:txBody>
      </p:sp>
      <p:sp>
        <p:nvSpPr>
          <p:cNvPr id="26" name="Text 24"/>
          <p:cNvSpPr/>
          <p:nvPr/>
        </p:nvSpPr>
        <p:spPr>
          <a:xfrm>
            <a:off x="6373368" y="4224528"/>
            <a:ext cx="4297680" cy="228600"/>
          </a:xfrm>
          <a:prstGeom prst="rect">
            <a:avLst/>
          </a:prstGeom>
          <a:noFill/>
          <a:ln/>
        </p:spPr>
        <p:txBody>
          <a:bodyPr wrap="square" lIns="0" tIns="0" rIns="0" bIns="0" rtlCol="0" anchor="ctr">
            <a:normAutofit/>
          </a:bodyPr>
          <a:lstStyle/>
          <a:p>
            <a:pPr marL="0" indent="0">
              <a:buNone/>
            </a:pPr>
            <a:r>
              <a:rPr lang="en-US" sz="1060" dirty="0">
                <a:solidFill>
                  <a:srgbClr val="B8C6D8"/>
                </a:solidFill>
              </a:rPr>
              <a:t>Large-scale training benefits from CUDA acceleration</a:t>
            </a:r>
            <a:endParaRPr lang="en-US" sz="1060" dirty="0"/>
          </a:p>
        </p:txBody>
      </p:sp>
      <p:sp>
        <p:nvSpPr>
          <p:cNvPr id="27" name="Text 25"/>
          <p:cNvSpPr/>
          <p:nvPr/>
        </p:nvSpPr>
        <p:spPr>
          <a:xfrm>
            <a:off x="731520" y="5193792"/>
            <a:ext cx="2057400" cy="274320"/>
          </a:xfrm>
          <a:prstGeom prst="rect">
            <a:avLst/>
          </a:prstGeom>
          <a:noFill/>
          <a:ln/>
        </p:spPr>
        <p:txBody>
          <a:bodyPr wrap="square" lIns="0" tIns="0" rIns="0" bIns="0" rtlCol="0" anchor="ctr"/>
          <a:lstStyle/>
          <a:p>
            <a:pPr marL="0" indent="0">
              <a:buNone/>
            </a:pPr>
            <a:r>
              <a:rPr lang="en-US" sz="1450" b="1" dirty="0">
                <a:solidFill>
                  <a:srgbClr val="FFFFFF"/>
                </a:solidFill>
              </a:rPr>
              <a:t>Example matrix multiplication</a:t>
            </a:r>
            <a:endParaRPr lang="en-US" sz="1450" dirty="0"/>
          </a:p>
        </p:txBody>
      </p:sp>
      <p:sp>
        <p:nvSpPr>
          <p:cNvPr id="28" name="Text 26"/>
          <p:cNvSpPr/>
          <p:nvPr/>
        </p:nvSpPr>
        <p:spPr>
          <a:xfrm>
            <a:off x="3657600" y="5157216"/>
            <a:ext cx="3657600" cy="292608"/>
          </a:xfrm>
          <a:prstGeom prst="rect">
            <a:avLst/>
          </a:prstGeom>
          <a:noFill/>
          <a:ln/>
        </p:spPr>
        <p:txBody>
          <a:bodyPr wrap="square" lIns="0" tIns="0" rIns="0" bIns="0" rtlCol="0" anchor="ctr"/>
          <a:lstStyle/>
          <a:p>
            <a:pPr marL="0" indent="0">
              <a:buNone/>
            </a:pPr>
            <a:r>
              <a:rPr lang="en-US" sz="1550" b="1" dirty="0">
                <a:solidFill>
                  <a:srgbClr val="FFB703"/>
                </a:solidFill>
              </a:rPr>
              <a:t>C = [[19, 22], [43, 50]]</a:t>
            </a:r>
            <a:endParaRPr lang="en-US" sz="1550" dirty="0"/>
          </a:p>
        </p:txBody>
      </p:sp>
      <p:sp>
        <p:nvSpPr>
          <p:cNvPr id="29" name="Text 27"/>
          <p:cNvSpPr/>
          <p:nvPr/>
        </p:nvSpPr>
        <p:spPr>
          <a:xfrm>
            <a:off x="731520" y="5705856"/>
            <a:ext cx="9509760" cy="274320"/>
          </a:xfrm>
          <a:prstGeom prst="rect">
            <a:avLst/>
          </a:prstGeom>
          <a:noFill/>
          <a:ln/>
        </p:spPr>
        <p:txBody>
          <a:bodyPr wrap="square" lIns="0" tIns="0" rIns="0" bIns="0" rtlCol="0" anchor="ctr"/>
          <a:lstStyle/>
          <a:p>
            <a:pPr marL="0" indent="0">
              <a:buNone/>
            </a:pPr>
            <a:r>
              <a:rPr lang="en-US" sz="1280" dirty="0">
                <a:solidFill>
                  <a:srgbClr val="B8C6D8"/>
                </a:solidFill>
              </a:rPr>
              <a:t>These operations form the numerical base for graph preprocessing, GNN training and model evaluation.</a:t>
            </a:r>
            <a:endParaRPr lang="en-US" sz="1280" dirty="0"/>
          </a:p>
        </p:txBody>
      </p:sp>
      <p:sp>
        <p:nvSpPr>
          <p:cNvPr id="31" name="Text 28"/>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32" name="Text 29"/>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dirty="0"/>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Graph representation and structural analysis</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Citation network properties that influence GNN learning</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9" name="Shape 7"/>
          <p:cNvSpPr/>
          <p:nvPr/>
        </p:nvSpPr>
        <p:spPr>
          <a:xfrm>
            <a:off x="640080" y="1307592"/>
            <a:ext cx="3831336" cy="3465576"/>
          </a:xfrm>
          <a:prstGeom prst="roundRect">
            <a:avLst>
              <a:gd name="adj" fmla="val 2111"/>
            </a:avLst>
          </a:prstGeom>
          <a:solidFill>
            <a:srgbClr val="0E2037"/>
          </a:solidFill>
          <a:ln w="8890">
            <a:solidFill>
              <a:srgbClr val="23374F"/>
            </a:solidFill>
            <a:prstDash val="solid"/>
          </a:ln>
        </p:spPr>
        <p:txBody>
          <a:bodyPr/>
          <a:lstStyle/>
          <a:p>
            <a:endParaRPr lang="en-US"/>
          </a:p>
        </p:txBody>
      </p:sp>
      <p:pic>
        <p:nvPicPr>
          <p:cNvPr id="10" name="Image 0" descr="/mnt/data/extracted_report_images/p18_img1.png"/>
          <p:cNvPicPr>
            <a:picLocks noChangeAspect="1"/>
          </p:cNvPicPr>
          <p:nvPr/>
        </p:nvPicPr>
        <p:blipFill>
          <a:blip r:embed="rId3"/>
          <a:srcRect l="7311" r="7311"/>
          <a:stretch/>
        </p:blipFill>
        <p:spPr>
          <a:xfrm>
            <a:off x="658368" y="1325880"/>
            <a:ext cx="3794760" cy="3429000"/>
          </a:xfrm>
          <a:prstGeom prst="rect">
            <a:avLst/>
          </a:prstGeom>
        </p:spPr>
      </p:pic>
      <p:sp>
        <p:nvSpPr>
          <p:cNvPr id="11" name="Shape 8"/>
          <p:cNvSpPr/>
          <p:nvPr/>
        </p:nvSpPr>
        <p:spPr>
          <a:xfrm>
            <a:off x="4645152" y="1307592"/>
            <a:ext cx="319125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2" name="Image 1" descr="/mnt/data/extracted_report_images/p20_img1.png"/>
          <p:cNvPicPr>
            <a:picLocks noChangeAspect="1"/>
          </p:cNvPicPr>
          <p:nvPr/>
        </p:nvPicPr>
        <p:blipFill>
          <a:blip r:embed="rId4"/>
          <a:stretch>
            <a:fillRect/>
          </a:stretch>
        </p:blipFill>
        <p:spPr>
          <a:xfrm>
            <a:off x="4713357" y="1325880"/>
            <a:ext cx="3054845" cy="1965960"/>
          </a:xfrm>
          <a:prstGeom prst="rect">
            <a:avLst/>
          </a:prstGeom>
        </p:spPr>
      </p:pic>
      <p:sp>
        <p:nvSpPr>
          <p:cNvPr id="13" name="Shape 9"/>
          <p:cNvSpPr/>
          <p:nvPr/>
        </p:nvSpPr>
        <p:spPr>
          <a:xfrm>
            <a:off x="8074152" y="1307592"/>
            <a:ext cx="319125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4" name="Image 2" descr="/mnt/data/extracted_report_images/p21_img1.png"/>
          <p:cNvPicPr>
            <a:picLocks noChangeAspect="1"/>
          </p:cNvPicPr>
          <p:nvPr/>
        </p:nvPicPr>
        <p:blipFill>
          <a:blip r:embed="rId5"/>
          <a:stretch>
            <a:fillRect/>
          </a:stretch>
        </p:blipFill>
        <p:spPr>
          <a:xfrm>
            <a:off x="8142357" y="1325880"/>
            <a:ext cx="3054845" cy="1965960"/>
          </a:xfrm>
          <a:prstGeom prst="rect">
            <a:avLst/>
          </a:prstGeom>
        </p:spPr>
      </p:pic>
      <p:sp>
        <p:nvSpPr>
          <p:cNvPr id="15" name="Shape 10"/>
          <p:cNvSpPr/>
          <p:nvPr/>
        </p:nvSpPr>
        <p:spPr>
          <a:xfrm>
            <a:off x="4663440" y="3794760"/>
            <a:ext cx="6583680" cy="987552"/>
          </a:xfrm>
          <a:prstGeom prst="roundRect">
            <a:avLst>
              <a:gd name="adj" fmla="val 11111"/>
            </a:avLst>
          </a:prstGeom>
          <a:solidFill>
            <a:srgbClr val="0D1F36"/>
          </a:solidFill>
          <a:ln w="11430">
            <a:solidFill>
              <a:srgbClr val="37D6E5">
                <a:alpha val="75000"/>
              </a:srgbClr>
            </a:solidFill>
            <a:prstDash val="solid"/>
          </a:ln>
        </p:spPr>
        <p:txBody>
          <a:bodyPr/>
          <a:lstStyle/>
          <a:p>
            <a:endParaRPr lang="en-US"/>
          </a:p>
        </p:txBody>
      </p:sp>
      <p:sp>
        <p:nvSpPr>
          <p:cNvPr id="16" name="Text 11"/>
          <p:cNvSpPr/>
          <p:nvPr/>
        </p:nvSpPr>
        <p:spPr>
          <a:xfrm>
            <a:off x="4828032" y="3922776"/>
            <a:ext cx="6254496" cy="228600"/>
          </a:xfrm>
          <a:prstGeom prst="rect">
            <a:avLst/>
          </a:prstGeom>
          <a:noFill/>
          <a:ln/>
        </p:spPr>
        <p:txBody>
          <a:bodyPr wrap="square" lIns="0" tIns="0" rIns="0" bIns="0" rtlCol="0" anchor="ctr"/>
          <a:lstStyle/>
          <a:p>
            <a:pPr marL="0" indent="0">
              <a:buNone/>
            </a:pPr>
            <a:r>
              <a:rPr lang="en-US" sz="1350" b="1" dirty="0">
                <a:solidFill>
                  <a:srgbClr val="37D6E5"/>
                </a:solidFill>
              </a:rPr>
              <a:t>Main finding</a:t>
            </a:r>
            <a:endParaRPr lang="en-US" sz="1350" dirty="0"/>
          </a:p>
        </p:txBody>
      </p:sp>
      <p:sp>
        <p:nvSpPr>
          <p:cNvPr id="17" name="Text 12"/>
          <p:cNvSpPr/>
          <p:nvPr/>
        </p:nvSpPr>
        <p:spPr>
          <a:xfrm>
            <a:off x="4828032" y="4233672"/>
            <a:ext cx="6254496" cy="438912"/>
          </a:xfrm>
          <a:prstGeom prst="rect">
            <a:avLst/>
          </a:prstGeom>
          <a:noFill/>
          <a:ln/>
        </p:spPr>
        <p:txBody>
          <a:bodyPr wrap="square" lIns="0" tIns="0" rIns="0" bIns="0" rtlCol="0" anchor="t">
            <a:normAutofit/>
          </a:bodyPr>
          <a:lstStyle/>
          <a:p>
            <a:pPr marL="0" indent="0">
              <a:buNone/>
            </a:pPr>
            <a:r>
              <a:rPr lang="en-US" sz="1220" dirty="0">
                <a:solidFill>
                  <a:srgbClr val="B8C6D8"/>
                </a:solidFill>
              </a:rPr>
              <a:t>The graph is large, sparse and structurally non-uniform. Most nodes have few connections, while a few papers act as citation hubs.</a:t>
            </a:r>
            <a:endParaRPr lang="en-US" sz="1220" dirty="0"/>
          </a:p>
        </p:txBody>
      </p:sp>
      <p:sp>
        <p:nvSpPr>
          <p:cNvPr id="18" name="Text 13"/>
          <p:cNvSpPr/>
          <p:nvPr/>
        </p:nvSpPr>
        <p:spPr>
          <a:xfrm>
            <a:off x="804672" y="5257800"/>
            <a:ext cx="22860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0.0000407</a:t>
            </a:r>
            <a:endParaRPr lang="en-US" sz="2500" dirty="0"/>
          </a:p>
        </p:txBody>
      </p:sp>
      <p:sp>
        <p:nvSpPr>
          <p:cNvPr id="19" name="Text 14"/>
          <p:cNvSpPr/>
          <p:nvPr/>
        </p:nvSpPr>
        <p:spPr>
          <a:xfrm>
            <a:off x="804672" y="5696712"/>
            <a:ext cx="22860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Directed graph density</a:t>
            </a:r>
            <a:endParaRPr lang="en-US" sz="950" dirty="0"/>
          </a:p>
        </p:txBody>
      </p:sp>
      <p:sp>
        <p:nvSpPr>
          <p:cNvPr id="20" name="Shape 15"/>
          <p:cNvSpPr/>
          <p:nvPr/>
        </p:nvSpPr>
        <p:spPr>
          <a:xfrm>
            <a:off x="804672" y="5971032"/>
            <a:ext cx="1005840" cy="0"/>
          </a:xfrm>
          <a:prstGeom prst="line">
            <a:avLst/>
          </a:prstGeom>
          <a:noFill/>
          <a:ln w="20320">
            <a:solidFill>
              <a:srgbClr val="FFB703"/>
            </a:solidFill>
            <a:prstDash val="solid"/>
          </a:ln>
        </p:spPr>
        <p:txBody>
          <a:bodyPr/>
          <a:lstStyle/>
          <a:p>
            <a:endParaRPr lang="en-US"/>
          </a:p>
        </p:txBody>
      </p:sp>
      <p:sp>
        <p:nvSpPr>
          <p:cNvPr id="21" name="Text 16"/>
          <p:cNvSpPr/>
          <p:nvPr/>
        </p:nvSpPr>
        <p:spPr>
          <a:xfrm>
            <a:off x="3474720" y="5257800"/>
            <a:ext cx="146304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a:t>
            </a:r>
            <a:endParaRPr lang="en-US" sz="2500" dirty="0"/>
          </a:p>
        </p:txBody>
      </p:sp>
      <p:sp>
        <p:nvSpPr>
          <p:cNvPr id="22" name="Text 17"/>
          <p:cNvSpPr/>
          <p:nvPr/>
        </p:nvSpPr>
        <p:spPr>
          <a:xfrm>
            <a:off x="3474720" y="5696712"/>
            <a:ext cx="146304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Weak components</a:t>
            </a:r>
            <a:endParaRPr lang="en-US" sz="950" dirty="0"/>
          </a:p>
        </p:txBody>
      </p:sp>
      <p:sp>
        <p:nvSpPr>
          <p:cNvPr id="23" name="Shape 18"/>
          <p:cNvSpPr/>
          <p:nvPr/>
        </p:nvSpPr>
        <p:spPr>
          <a:xfrm>
            <a:off x="3474720" y="5971032"/>
            <a:ext cx="1005840" cy="0"/>
          </a:xfrm>
          <a:prstGeom prst="line">
            <a:avLst/>
          </a:prstGeom>
          <a:noFill/>
          <a:ln w="20320">
            <a:solidFill>
              <a:srgbClr val="7DD181"/>
            </a:solidFill>
            <a:prstDash val="solid"/>
          </a:ln>
        </p:spPr>
        <p:txBody>
          <a:bodyPr/>
          <a:lstStyle/>
          <a:p>
            <a:endParaRPr lang="en-US"/>
          </a:p>
        </p:txBody>
      </p:sp>
      <p:sp>
        <p:nvSpPr>
          <p:cNvPr id="24" name="Text 19"/>
          <p:cNvSpPr/>
          <p:nvPr/>
        </p:nvSpPr>
        <p:spPr>
          <a:xfrm>
            <a:off x="5257800" y="5257800"/>
            <a:ext cx="201168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141,223</a:t>
            </a:r>
            <a:endParaRPr lang="en-US" sz="2500" dirty="0"/>
          </a:p>
        </p:txBody>
      </p:sp>
      <p:sp>
        <p:nvSpPr>
          <p:cNvPr id="25" name="Text 20"/>
          <p:cNvSpPr/>
          <p:nvPr/>
        </p:nvSpPr>
        <p:spPr>
          <a:xfrm>
            <a:off x="5257800" y="5696712"/>
            <a:ext cx="201168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Strong components</a:t>
            </a:r>
            <a:endParaRPr lang="en-US" sz="950" dirty="0"/>
          </a:p>
        </p:txBody>
      </p:sp>
      <p:sp>
        <p:nvSpPr>
          <p:cNvPr id="26" name="Shape 21"/>
          <p:cNvSpPr/>
          <p:nvPr/>
        </p:nvSpPr>
        <p:spPr>
          <a:xfrm>
            <a:off x="5257800" y="5971032"/>
            <a:ext cx="1005840" cy="0"/>
          </a:xfrm>
          <a:prstGeom prst="line">
            <a:avLst/>
          </a:prstGeom>
          <a:noFill/>
          <a:ln w="20320">
            <a:solidFill>
              <a:srgbClr val="4F8BFF"/>
            </a:solidFill>
            <a:prstDash val="solid"/>
          </a:ln>
        </p:spPr>
        <p:txBody>
          <a:bodyPr/>
          <a:lstStyle/>
          <a:p>
            <a:endParaRPr lang="en-US"/>
          </a:p>
        </p:txBody>
      </p:sp>
      <p:sp>
        <p:nvSpPr>
          <p:cNvPr id="27" name="Text 22"/>
          <p:cNvSpPr/>
          <p:nvPr/>
        </p:nvSpPr>
        <p:spPr>
          <a:xfrm>
            <a:off x="7589520" y="5257800"/>
            <a:ext cx="201168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13,155</a:t>
            </a:r>
            <a:endParaRPr lang="en-US" sz="2500" dirty="0"/>
          </a:p>
        </p:txBody>
      </p:sp>
      <p:sp>
        <p:nvSpPr>
          <p:cNvPr id="28" name="Text 23"/>
          <p:cNvSpPr/>
          <p:nvPr/>
        </p:nvSpPr>
        <p:spPr>
          <a:xfrm>
            <a:off x="7589520" y="5696712"/>
            <a:ext cx="201168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Max in-degree</a:t>
            </a:r>
            <a:endParaRPr lang="en-US" sz="950" dirty="0"/>
          </a:p>
        </p:txBody>
      </p:sp>
      <p:sp>
        <p:nvSpPr>
          <p:cNvPr id="29" name="Shape 24"/>
          <p:cNvSpPr/>
          <p:nvPr/>
        </p:nvSpPr>
        <p:spPr>
          <a:xfrm>
            <a:off x="7589520" y="5971032"/>
            <a:ext cx="1005840" cy="0"/>
          </a:xfrm>
          <a:prstGeom prst="line">
            <a:avLst/>
          </a:prstGeom>
          <a:noFill/>
          <a:ln w="20320">
            <a:solidFill>
              <a:srgbClr val="37D6E5"/>
            </a:solidFill>
            <a:prstDash val="solid"/>
          </a:ln>
        </p:spPr>
        <p:txBody>
          <a:bodyPr/>
          <a:lstStyle/>
          <a:p>
            <a:endParaRPr lang="en-US"/>
          </a:p>
        </p:txBody>
      </p:sp>
      <p:sp>
        <p:nvSpPr>
          <p:cNvPr id="31" name="Text 25"/>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32" name="Text 26"/>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Graph data preparation</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Leakage-aware preprocessing before model training</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9" name="Shape 7"/>
          <p:cNvSpPr/>
          <p:nvPr/>
        </p:nvSpPr>
        <p:spPr>
          <a:xfrm>
            <a:off x="2468880" y="2258568"/>
            <a:ext cx="777240" cy="0"/>
          </a:xfrm>
          <a:prstGeom prst="line">
            <a:avLst/>
          </a:prstGeom>
          <a:noFill/>
          <a:ln w="25400">
            <a:solidFill>
              <a:srgbClr val="37D6E5"/>
            </a:solidFill>
            <a:prstDash val="solid"/>
            <a:headEnd type="none"/>
            <a:tailEnd type="triangle"/>
          </a:ln>
        </p:spPr>
        <p:txBody>
          <a:bodyPr/>
          <a:lstStyle/>
          <a:p>
            <a:endParaRPr lang="en-US"/>
          </a:p>
        </p:txBody>
      </p:sp>
      <p:sp>
        <p:nvSpPr>
          <p:cNvPr id="10" name="Shape 8"/>
          <p:cNvSpPr/>
          <p:nvPr/>
        </p:nvSpPr>
        <p:spPr>
          <a:xfrm>
            <a:off x="4937760" y="2258568"/>
            <a:ext cx="777240" cy="0"/>
          </a:xfrm>
          <a:prstGeom prst="line">
            <a:avLst/>
          </a:prstGeom>
          <a:noFill/>
          <a:ln w="25400">
            <a:solidFill>
              <a:srgbClr val="37D6E5"/>
            </a:solidFill>
            <a:prstDash val="solid"/>
            <a:headEnd type="none"/>
            <a:tailEnd type="triangle"/>
          </a:ln>
        </p:spPr>
        <p:txBody>
          <a:bodyPr/>
          <a:lstStyle/>
          <a:p>
            <a:endParaRPr lang="en-US"/>
          </a:p>
        </p:txBody>
      </p:sp>
      <p:sp>
        <p:nvSpPr>
          <p:cNvPr id="11" name="Shape 9"/>
          <p:cNvSpPr/>
          <p:nvPr/>
        </p:nvSpPr>
        <p:spPr>
          <a:xfrm>
            <a:off x="7406640" y="2258568"/>
            <a:ext cx="777240" cy="0"/>
          </a:xfrm>
          <a:prstGeom prst="line">
            <a:avLst/>
          </a:prstGeom>
          <a:noFill/>
          <a:ln w="25400">
            <a:solidFill>
              <a:srgbClr val="37D6E5"/>
            </a:solidFill>
            <a:prstDash val="solid"/>
            <a:headEnd type="none"/>
            <a:tailEnd type="triangle"/>
          </a:ln>
        </p:spPr>
        <p:txBody>
          <a:bodyPr/>
          <a:lstStyle/>
          <a:p>
            <a:endParaRPr lang="en-US"/>
          </a:p>
        </p:txBody>
      </p:sp>
      <p:sp>
        <p:nvSpPr>
          <p:cNvPr id="12" name="Shape 10"/>
          <p:cNvSpPr/>
          <p:nvPr/>
        </p:nvSpPr>
        <p:spPr>
          <a:xfrm>
            <a:off x="777240" y="1874520"/>
            <a:ext cx="1874520" cy="914400"/>
          </a:xfrm>
          <a:prstGeom prst="roundRect">
            <a:avLst>
              <a:gd name="adj" fmla="val 13000"/>
            </a:avLst>
          </a:prstGeom>
          <a:solidFill>
            <a:srgbClr val="0D1F36"/>
          </a:solidFill>
          <a:ln w="7620">
            <a:solidFill>
              <a:srgbClr val="23374F"/>
            </a:solidFill>
            <a:prstDash val="solid"/>
          </a:ln>
        </p:spPr>
        <p:txBody>
          <a:bodyPr/>
          <a:lstStyle/>
          <a:p>
            <a:endParaRPr lang="en-US"/>
          </a:p>
        </p:txBody>
      </p:sp>
      <p:sp>
        <p:nvSpPr>
          <p:cNvPr id="13" name="Text 11"/>
          <p:cNvSpPr/>
          <p:nvPr/>
        </p:nvSpPr>
        <p:spPr>
          <a:xfrm>
            <a:off x="923544" y="1993392"/>
            <a:ext cx="1508760" cy="201168"/>
          </a:xfrm>
          <a:prstGeom prst="rect">
            <a:avLst/>
          </a:prstGeom>
          <a:noFill/>
          <a:ln/>
        </p:spPr>
        <p:txBody>
          <a:bodyPr wrap="square" lIns="0" tIns="0" rIns="0" bIns="0" rtlCol="0" anchor="ctr"/>
          <a:lstStyle/>
          <a:p>
            <a:pPr marL="0" indent="0">
              <a:buNone/>
            </a:pPr>
            <a:r>
              <a:rPr lang="en-US" sz="1400" b="1" dirty="0">
                <a:solidFill>
                  <a:srgbClr val="FFFFFF"/>
                </a:solidFill>
              </a:rPr>
              <a:t>Load tensors</a:t>
            </a:r>
            <a:endParaRPr lang="en-US" sz="1400" dirty="0"/>
          </a:p>
        </p:txBody>
      </p:sp>
      <p:sp>
        <p:nvSpPr>
          <p:cNvPr id="14" name="Text 12"/>
          <p:cNvSpPr/>
          <p:nvPr/>
        </p:nvSpPr>
        <p:spPr>
          <a:xfrm>
            <a:off x="923544" y="2267712"/>
            <a:ext cx="1554480" cy="365760"/>
          </a:xfrm>
          <a:prstGeom prst="rect">
            <a:avLst/>
          </a:prstGeom>
          <a:noFill/>
          <a:ln/>
        </p:spPr>
        <p:txBody>
          <a:bodyPr wrap="square" lIns="0" tIns="0" rIns="0" bIns="0" rtlCol="0" anchor="ctr">
            <a:normAutofit/>
          </a:bodyPr>
          <a:lstStyle/>
          <a:p>
            <a:pPr marL="0" indent="0">
              <a:buNone/>
            </a:pPr>
            <a:r>
              <a:rPr lang="en-US" sz="1050" dirty="0">
                <a:solidFill>
                  <a:srgbClr val="B8C6D8"/>
                </a:solidFill>
              </a:rPr>
              <a:t>X: [169343, 128]</a:t>
            </a:r>
            <a:endParaRPr lang="en-US" sz="1050" dirty="0"/>
          </a:p>
          <a:p>
            <a:pPr marL="0" indent="0">
              <a:buNone/>
            </a:pPr>
            <a:r>
              <a:rPr lang="en-US" sz="1050" dirty="0">
                <a:solidFill>
                  <a:srgbClr val="B8C6D8"/>
                </a:solidFill>
              </a:rPr>
              <a:t>y: [169343]</a:t>
            </a:r>
            <a:endParaRPr lang="en-US" sz="1050" dirty="0"/>
          </a:p>
        </p:txBody>
      </p:sp>
      <p:sp>
        <p:nvSpPr>
          <p:cNvPr id="15" name="Shape 13"/>
          <p:cNvSpPr/>
          <p:nvPr/>
        </p:nvSpPr>
        <p:spPr>
          <a:xfrm>
            <a:off x="3246120" y="1874520"/>
            <a:ext cx="1874520" cy="914400"/>
          </a:xfrm>
          <a:prstGeom prst="roundRect">
            <a:avLst>
              <a:gd name="adj" fmla="val 13000"/>
            </a:avLst>
          </a:prstGeom>
          <a:solidFill>
            <a:srgbClr val="0D1F36"/>
          </a:solidFill>
          <a:ln w="7620">
            <a:solidFill>
              <a:srgbClr val="23374F"/>
            </a:solidFill>
            <a:prstDash val="solid"/>
          </a:ln>
        </p:spPr>
        <p:txBody>
          <a:bodyPr/>
          <a:lstStyle/>
          <a:p>
            <a:endParaRPr lang="en-US"/>
          </a:p>
        </p:txBody>
      </p:sp>
      <p:sp>
        <p:nvSpPr>
          <p:cNvPr id="16" name="Text 14"/>
          <p:cNvSpPr/>
          <p:nvPr/>
        </p:nvSpPr>
        <p:spPr>
          <a:xfrm>
            <a:off x="3392424" y="1993392"/>
            <a:ext cx="1508760" cy="201168"/>
          </a:xfrm>
          <a:prstGeom prst="rect">
            <a:avLst/>
          </a:prstGeom>
          <a:noFill/>
          <a:ln/>
        </p:spPr>
        <p:txBody>
          <a:bodyPr wrap="square" lIns="0" tIns="0" rIns="0" bIns="0" rtlCol="0" anchor="ctr"/>
          <a:lstStyle/>
          <a:p>
            <a:pPr marL="0" indent="0">
              <a:buNone/>
            </a:pPr>
            <a:r>
              <a:rPr lang="en-US" sz="1400" b="1" dirty="0">
                <a:solidFill>
                  <a:srgbClr val="FFFFFF"/>
                </a:solidFill>
              </a:rPr>
              <a:t>Validate data</a:t>
            </a:r>
            <a:endParaRPr lang="en-US" sz="1400" dirty="0"/>
          </a:p>
        </p:txBody>
      </p:sp>
      <p:sp>
        <p:nvSpPr>
          <p:cNvPr id="17" name="Text 15"/>
          <p:cNvSpPr/>
          <p:nvPr/>
        </p:nvSpPr>
        <p:spPr>
          <a:xfrm>
            <a:off x="3392424" y="2267712"/>
            <a:ext cx="1554480" cy="365760"/>
          </a:xfrm>
          <a:prstGeom prst="rect">
            <a:avLst/>
          </a:prstGeom>
          <a:noFill/>
          <a:ln/>
        </p:spPr>
        <p:txBody>
          <a:bodyPr wrap="square" lIns="0" tIns="0" rIns="0" bIns="0" rtlCol="0" anchor="ctr">
            <a:normAutofit/>
          </a:bodyPr>
          <a:lstStyle/>
          <a:p>
            <a:pPr marL="0" indent="0">
              <a:buNone/>
            </a:pPr>
            <a:r>
              <a:rPr lang="en-US" sz="1050" dirty="0">
                <a:solidFill>
                  <a:srgbClr val="B8C6D8"/>
                </a:solidFill>
              </a:rPr>
              <a:t>No missing values</a:t>
            </a:r>
            <a:endParaRPr lang="en-US" sz="1050" dirty="0"/>
          </a:p>
          <a:p>
            <a:pPr marL="0" indent="0">
              <a:buNone/>
            </a:pPr>
            <a:r>
              <a:rPr lang="en-US" sz="1050" dirty="0">
                <a:solidFill>
                  <a:srgbClr val="B8C6D8"/>
                </a:solidFill>
              </a:rPr>
              <a:t>Valid labels and splits</a:t>
            </a:r>
            <a:endParaRPr lang="en-US" sz="1050" dirty="0"/>
          </a:p>
        </p:txBody>
      </p:sp>
      <p:sp>
        <p:nvSpPr>
          <p:cNvPr id="18" name="Shape 16"/>
          <p:cNvSpPr/>
          <p:nvPr/>
        </p:nvSpPr>
        <p:spPr>
          <a:xfrm>
            <a:off x="5715000" y="1874520"/>
            <a:ext cx="1874520" cy="914400"/>
          </a:xfrm>
          <a:prstGeom prst="roundRect">
            <a:avLst>
              <a:gd name="adj" fmla="val 13000"/>
            </a:avLst>
          </a:prstGeom>
          <a:solidFill>
            <a:srgbClr val="0D1F36"/>
          </a:solidFill>
          <a:ln w="7620">
            <a:solidFill>
              <a:srgbClr val="23374F"/>
            </a:solidFill>
            <a:prstDash val="solid"/>
          </a:ln>
        </p:spPr>
        <p:txBody>
          <a:bodyPr/>
          <a:lstStyle/>
          <a:p>
            <a:endParaRPr lang="en-US"/>
          </a:p>
        </p:txBody>
      </p:sp>
      <p:sp>
        <p:nvSpPr>
          <p:cNvPr id="19" name="Text 17"/>
          <p:cNvSpPr/>
          <p:nvPr/>
        </p:nvSpPr>
        <p:spPr>
          <a:xfrm>
            <a:off x="5861304" y="1993392"/>
            <a:ext cx="1508760" cy="201168"/>
          </a:xfrm>
          <a:prstGeom prst="rect">
            <a:avLst/>
          </a:prstGeom>
          <a:noFill/>
          <a:ln/>
        </p:spPr>
        <p:txBody>
          <a:bodyPr wrap="square" lIns="0" tIns="0" rIns="0" bIns="0" rtlCol="0" anchor="ctr"/>
          <a:lstStyle/>
          <a:p>
            <a:pPr marL="0" indent="0">
              <a:buNone/>
            </a:pPr>
            <a:r>
              <a:rPr lang="en-US" sz="1400" b="1" dirty="0">
                <a:solidFill>
                  <a:srgbClr val="FFFFFF"/>
                </a:solidFill>
              </a:rPr>
              <a:t>Normalize features</a:t>
            </a:r>
            <a:endParaRPr lang="en-US" sz="1400" dirty="0"/>
          </a:p>
        </p:txBody>
      </p:sp>
      <p:sp>
        <p:nvSpPr>
          <p:cNvPr id="20" name="Text 18"/>
          <p:cNvSpPr/>
          <p:nvPr/>
        </p:nvSpPr>
        <p:spPr>
          <a:xfrm>
            <a:off x="5861304" y="2267712"/>
            <a:ext cx="1554480" cy="365760"/>
          </a:xfrm>
          <a:prstGeom prst="rect">
            <a:avLst/>
          </a:prstGeom>
          <a:noFill/>
          <a:ln/>
        </p:spPr>
        <p:txBody>
          <a:bodyPr wrap="square" lIns="0" tIns="0" rIns="0" bIns="0" rtlCol="0" anchor="ctr">
            <a:normAutofit/>
          </a:bodyPr>
          <a:lstStyle/>
          <a:p>
            <a:pPr marL="0" indent="0">
              <a:buNone/>
            </a:pPr>
            <a:r>
              <a:rPr lang="en-US" sz="1050" dirty="0">
                <a:solidFill>
                  <a:srgbClr val="B8C6D8"/>
                </a:solidFill>
              </a:rPr>
              <a:t>Mean/std from training nodes only</a:t>
            </a:r>
            <a:endParaRPr lang="en-US" sz="1050" dirty="0"/>
          </a:p>
        </p:txBody>
      </p:sp>
      <p:sp>
        <p:nvSpPr>
          <p:cNvPr id="21" name="Shape 19"/>
          <p:cNvSpPr/>
          <p:nvPr/>
        </p:nvSpPr>
        <p:spPr>
          <a:xfrm>
            <a:off x="8183880" y="1874520"/>
            <a:ext cx="1874520" cy="914400"/>
          </a:xfrm>
          <a:prstGeom prst="roundRect">
            <a:avLst>
              <a:gd name="adj" fmla="val 13000"/>
            </a:avLst>
          </a:prstGeom>
          <a:solidFill>
            <a:srgbClr val="0D1F36"/>
          </a:solidFill>
          <a:ln w="7620">
            <a:solidFill>
              <a:srgbClr val="23374F"/>
            </a:solidFill>
            <a:prstDash val="solid"/>
          </a:ln>
        </p:spPr>
        <p:txBody>
          <a:bodyPr/>
          <a:lstStyle/>
          <a:p>
            <a:endParaRPr lang="en-US"/>
          </a:p>
        </p:txBody>
      </p:sp>
      <p:sp>
        <p:nvSpPr>
          <p:cNvPr id="22" name="Text 20"/>
          <p:cNvSpPr/>
          <p:nvPr/>
        </p:nvSpPr>
        <p:spPr>
          <a:xfrm>
            <a:off x="8330184" y="1993392"/>
            <a:ext cx="1508760" cy="201168"/>
          </a:xfrm>
          <a:prstGeom prst="rect">
            <a:avLst/>
          </a:prstGeom>
          <a:noFill/>
          <a:ln/>
        </p:spPr>
        <p:txBody>
          <a:bodyPr wrap="square" lIns="0" tIns="0" rIns="0" bIns="0" rtlCol="0" anchor="ctr"/>
          <a:lstStyle/>
          <a:p>
            <a:pPr marL="0" indent="0">
              <a:buNone/>
            </a:pPr>
            <a:r>
              <a:rPr lang="en-US" sz="1400" b="1" dirty="0">
                <a:solidFill>
                  <a:srgbClr val="FFFFFF"/>
                </a:solidFill>
              </a:rPr>
              <a:t>Prepare edges</a:t>
            </a:r>
            <a:endParaRPr lang="en-US" sz="1400" dirty="0"/>
          </a:p>
        </p:txBody>
      </p:sp>
      <p:sp>
        <p:nvSpPr>
          <p:cNvPr id="23" name="Text 21"/>
          <p:cNvSpPr/>
          <p:nvPr/>
        </p:nvSpPr>
        <p:spPr>
          <a:xfrm>
            <a:off x="8330184" y="2267712"/>
            <a:ext cx="1554480" cy="365760"/>
          </a:xfrm>
          <a:prstGeom prst="rect">
            <a:avLst/>
          </a:prstGeom>
          <a:noFill/>
          <a:ln/>
        </p:spPr>
        <p:txBody>
          <a:bodyPr wrap="square" lIns="0" tIns="0" rIns="0" bIns="0" rtlCol="0" anchor="ctr">
            <a:normAutofit/>
          </a:bodyPr>
          <a:lstStyle/>
          <a:p>
            <a:pPr marL="0" indent="0">
              <a:buNone/>
            </a:pPr>
            <a:r>
              <a:rPr lang="en-US" sz="1050" dirty="0">
                <a:solidFill>
                  <a:srgbClr val="B8C6D8"/>
                </a:solidFill>
              </a:rPr>
              <a:t>2,315,598 message-passing edges</a:t>
            </a:r>
            <a:endParaRPr lang="en-US" sz="1050" dirty="0"/>
          </a:p>
        </p:txBody>
      </p:sp>
      <p:sp>
        <p:nvSpPr>
          <p:cNvPr id="24" name="Shape 22"/>
          <p:cNvSpPr/>
          <p:nvPr/>
        </p:nvSpPr>
        <p:spPr>
          <a:xfrm>
            <a:off x="777240" y="3520440"/>
            <a:ext cx="3703320" cy="1417320"/>
          </a:xfrm>
          <a:prstGeom prst="roundRect">
            <a:avLst>
              <a:gd name="adj" fmla="val 7742"/>
            </a:avLst>
          </a:prstGeom>
          <a:solidFill>
            <a:srgbClr val="0D1F36"/>
          </a:solidFill>
          <a:ln w="11430">
            <a:solidFill>
              <a:srgbClr val="FFB703">
                <a:alpha val="75000"/>
              </a:srgbClr>
            </a:solidFill>
            <a:prstDash val="solid"/>
          </a:ln>
        </p:spPr>
        <p:txBody>
          <a:bodyPr/>
          <a:lstStyle/>
          <a:p>
            <a:endParaRPr lang="en-US"/>
          </a:p>
        </p:txBody>
      </p:sp>
      <p:sp>
        <p:nvSpPr>
          <p:cNvPr id="25" name="Text 23"/>
          <p:cNvSpPr/>
          <p:nvPr/>
        </p:nvSpPr>
        <p:spPr>
          <a:xfrm>
            <a:off x="941832" y="3648456"/>
            <a:ext cx="3374136" cy="228600"/>
          </a:xfrm>
          <a:prstGeom prst="rect">
            <a:avLst/>
          </a:prstGeom>
          <a:noFill/>
          <a:ln/>
        </p:spPr>
        <p:txBody>
          <a:bodyPr wrap="square" lIns="0" tIns="0" rIns="0" bIns="0" rtlCol="0" anchor="ctr"/>
          <a:lstStyle/>
          <a:p>
            <a:pPr marL="0" indent="0">
              <a:buNone/>
            </a:pPr>
            <a:r>
              <a:rPr lang="en-US" sz="1350" b="1" dirty="0">
                <a:solidFill>
                  <a:srgbClr val="FFB703"/>
                </a:solidFill>
              </a:rPr>
              <a:t>Official splits retained</a:t>
            </a:r>
            <a:endParaRPr lang="en-US" sz="1350" dirty="0"/>
          </a:p>
        </p:txBody>
      </p:sp>
      <p:sp>
        <p:nvSpPr>
          <p:cNvPr id="26" name="Text 24"/>
          <p:cNvSpPr/>
          <p:nvPr/>
        </p:nvSpPr>
        <p:spPr>
          <a:xfrm>
            <a:off x="941832" y="3959352"/>
            <a:ext cx="3374136" cy="868680"/>
          </a:xfrm>
          <a:prstGeom prst="rect">
            <a:avLst/>
          </a:prstGeom>
          <a:noFill/>
          <a:ln/>
        </p:spPr>
        <p:txBody>
          <a:bodyPr wrap="square" lIns="0" tIns="0" rIns="0" bIns="0" rtlCol="0" anchor="t">
            <a:normAutofit/>
          </a:bodyPr>
          <a:lstStyle/>
          <a:p>
            <a:pPr marL="0" indent="0">
              <a:buNone/>
            </a:pPr>
            <a:r>
              <a:rPr lang="en-US" sz="1220" dirty="0">
                <a:solidFill>
                  <a:srgbClr val="B8C6D8"/>
                </a:solidFill>
              </a:rPr>
              <a:t>Training: 90,941 nodes</a:t>
            </a:r>
            <a:endParaRPr lang="en-US" sz="1220" dirty="0"/>
          </a:p>
          <a:p>
            <a:pPr marL="0" indent="0">
              <a:buNone/>
            </a:pPr>
            <a:r>
              <a:rPr lang="en-US" sz="1220" dirty="0">
                <a:solidFill>
                  <a:srgbClr val="B8C6D8"/>
                </a:solidFill>
              </a:rPr>
              <a:t>Validation: 29,799 nodes</a:t>
            </a:r>
            <a:endParaRPr lang="en-US" sz="1220" dirty="0"/>
          </a:p>
          <a:p>
            <a:pPr marL="0" indent="0">
              <a:buNone/>
            </a:pPr>
            <a:r>
              <a:rPr lang="en-US" sz="1220" dirty="0">
                <a:solidFill>
                  <a:srgbClr val="B8C6D8"/>
                </a:solidFill>
              </a:rPr>
              <a:t>Test: 48,603 nodes</a:t>
            </a:r>
            <a:endParaRPr lang="en-US" sz="1220" dirty="0"/>
          </a:p>
          <a:p>
            <a:pPr marL="0" indent="0">
              <a:buNone/>
            </a:pPr>
            <a:r>
              <a:rPr lang="en-US" sz="1220" dirty="0">
                <a:solidFill>
                  <a:srgbClr val="B8C6D8"/>
                </a:solidFill>
              </a:rPr>
              <a:t>Total: 169,343 nodes</a:t>
            </a:r>
            <a:endParaRPr lang="en-US" sz="1220" dirty="0"/>
          </a:p>
        </p:txBody>
      </p:sp>
      <p:sp>
        <p:nvSpPr>
          <p:cNvPr id="27" name="Shape 25"/>
          <p:cNvSpPr/>
          <p:nvPr/>
        </p:nvSpPr>
        <p:spPr>
          <a:xfrm>
            <a:off x="4800600" y="3520440"/>
            <a:ext cx="5623560" cy="1234440"/>
          </a:xfrm>
          <a:prstGeom prst="roundRect">
            <a:avLst>
              <a:gd name="adj" fmla="val 8889"/>
            </a:avLst>
          </a:prstGeom>
          <a:solidFill>
            <a:srgbClr val="0D1F36"/>
          </a:solidFill>
          <a:ln w="11430">
            <a:solidFill>
              <a:srgbClr val="37D6E5">
                <a:alpha val="75000"/>
              </a:srgbClr>
            </a:solidFill>
            <a:prstDash val="solid"/>
          </a:ln>
        </p:spPr>
        <p:txBody>
          <a:bodyPr/>
          <a:lstStyle/>
          <a:p>
            <a:endParaRPr lang="en-US"/>
          </a:p>
        </p:txBody>
      </p:sp>
      <p:sp>
        <p:nvSpPr>
          <p:cNvPr id="28" name="Text 26"/>
          <p:cNvSpPr/>
          <p:nvPr/>
        </p:nvSpPr>
        <p:spPr>
          <a:xfrm>
            <a:off x="4965192" y="3648456"/>
            <a:ext cx="5294376" cy="228600"/>
          </a:xfrm>
          <a:prstGeom prst="rect">
            <a:avLst/>
          </a:prstGeom>
          <a:noFill/>
          <a:ln/>
        </p:spPr>
        <p:txBody>
          <a:bodyPr wrap="square" lIns="0" tIns="0" rIns="0" bIns="0" rtlCol="0" anchor="ctr"/>
          <a:lstStyle/>
          <a:p>
            <a:pPr marL="0" indent="0">
              <a:buNone/>
            </a:pPr>
            <a:r>
              <a:rPr lang="en-US" sz="1350" b="1" dirty="0">
                <a:solidFill>
                  <a:srgbClr val="37D6E5"/>
                </a:solidFill>
              </a:rPr>
              <a:t>Why this matters</a:t>
            </a:r>
            <a:endParaRPr lang="en-US" sz="1350" dirty="0"/>
          </a:p>
        </p:txBody>
      </p:sp>
      <p:sp>
        <p:nvSpPr>
          <p:cNvPr id="29" name="Text 27"/>
          <p:cNvSpPr/>
          <p:nvPr/>
        </p:nvSpPr>
        <p:spPr>
          <a:xfrm>
            <a:off x="4965192" y="3959352"/>
            <a:ext cx="5294376" cy="685800"/>
          </a:xfrm>
          <a:prstGeom prst="rect">
            <a:avLst/>
          </a:prstGeom>
          <a:noFill/>
          <a:ln/>
        </p:spPr>
        <p:txBody>
          <a:bodyPr wrap="square" lIns="0" tIns="0" rIns="0" bIns="0" rtlCol="0" anchor="t">
            <a:normAutofit/>
          </a:bodyPr>
          <a:lstStyle/>
          <a:p>
            <a:pPr marL="0" indent="0">
              <a:buNone/>
            </a:pPr>
            <a:r>
              <a:rPr lang="en-US" sz="1220" dirty="0">
                <a:solidFill>
                  <a:srgbClr val="B8C6D8"/>
                </a:solidFill>
              </a:rPr>
              <a:t>Feature normalization was calculated only from training nodes. This avoids validation/test leakage and makes the final evaluation more reliable.</a:t>
            </a:r>
            <a:endParaRPr lang="en-US" sz="1220" dirty="0"/>
          </a:p>
        </p:txBody>
      </p:sp>
      <p:sp>
        <p:nvSpPr>
          <p:cNvPr id="31" name="Text 28"/>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32" name="Text 29"/>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15088" y="87978"/>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Architecture 1: Graph Convolutional Network</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GCN baseline and tuned model for citation-neighborhood learning</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2011680" y="2240280"/>
            <a:ext cx="685800" cy="0"/>
          </a:xfrm>
          <a:prstGeom prst="line">
            <a:avLst/>
          </a:prstGeom>
          <a:noFill/>
          <a:ln w="25400">
            <a:solidFill>
              <a:srgbClr val="37D6E5"/>
            </a:solidFill>
            <a:prstDash val="solid"/>
            <a:tailEnd type="triangle"/>
          </a:ln>
        </p:spPr>
        <p:txBody>
          <a:bodyPr/>
          <a:lstStyle/>
          <a:p>
            <a:endParaRPr lang="en-US"/>
          </a:p>
        </p:txBody>
      </p:sp>
      <p:sp>
        <p:nvSpPr>
          <p:cNvPr id="10" name="Shape 8"/>
          <p:cNvSpPr/>
          <p:nvPr/>
        </p:nvSpPr>
        <p:spPr>
          <a:xfrm>
            <a:off x="4023360" y="2240280"/>
            <a:ext cx="685800" cy="0"/>
          </a:xfrm>
          <a:prstGeom prst="line">
            <a:avLst/>
          </a:prstGeom>
          <a:noFill/>
          <a:ln w="25400">
            <a:solidFill>
              <a:srgbClr val="37D6E5"/>
            </a:solidFill>
            <a:prstDash val="solid"/>
            <a:tailEnd type="triangle"/>
          </a:ln>
        </p:spPr>
        <p:txBody>
          <a:bodyPr/>
          <a:lstStyle/>
          <a:p>
            <a:endParaRPr lang="en-US"/>
          </a:p>
        </p:txBody>
      </p:sp>
      <p:sp>
        <p:nvSpPr>
          <p:cNvPr id="11" name="Shape 9"/>
          <p:cNvSpPr/>
          <p:nvPr/>
        </p:nvSpPr>
        <p:spPr>
          <a:xfrm>
            <a:off x="6035040" y="2240280"/>
            <a:ext cx="685800" cy="0"/>
          </a:xfrm>
          <a:prstGeom prst="line">
            <a:avLst/>
          </a:prstGeom>
          <a:noFill/>
          <a:ln w="25400">
            <a:solidFill>
              <a:srgbClr val="37D6E5"/>
            </a:solidFill>
            <a:prstDash val="solid"/>
            <a:tailEnd type="triangle"/>
          </a:ln>
        </p:spPr>
        <p:txBody>
          <a:bodyPr/>
          <a:lstStyle/>
          <a:p>
            <a:endParaRPr lang="en-US"/>
          </a:p>
        </p:txBody>
      </p:sp>
      <p:sp>
        <p:nvSpPr>
          <p:cNvPr id="12" name="Shape 10"/>
          <p:cNvSpPr/>
          <p:nvPr/>
        </p:nvSpPr>
        <p:spPr>
          <a:xfrm>
            <a:off x="8092440" y="2240280"/>
            <a:ext cx="685800" cy="0"/>
          </a:xfrm>
          <a:prstGeom prst="line">
            <a:avLst/>
          </a:prstGeom>
          <a:noFill/>
          <a:ln w="25400">
            <a:solidFill>
              <a:srgbClr val="37D6E5"/>
            </a:solidFill>
            <a:prstDash val="solid"/>
            <a:tailEnd type="triangle"/>
          </a:ln>
        </p:spPr>
        <p:txBody>
          <a:bodyPr/>
          <a:lstStyle/>
          <a:p>
            <a:endParaRPr lang="en-US"/>
          </a:p>
        </p:txBody>
      </p:sp>
      <p:sp>
        <p:nvSpPr>
          <p:cNvPr id="13" name="Shape 11"/>
          <p:cNvSpPr/>
          <p:nvPr/>
        </p:nvSpPr>
        <p:spPr>
          <a:xfrm>
            <a:off x="731520" y="1828800"/>
            <a:ext cx="132588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14" name="Text 12"/>
          <p:cNvSpPr/>
          <p:nvPr/>
        </p:nvSpPr>
        <p:spPr>
          <a:xfrm>
            <a:off x="841248" y="1975104"/>
            <a:ext cx="1097280" cy="502920"/>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rPr>
              <a:t>128 input</a:t>
            </a:r>
            <a:endParaRPr lang="en-US" sz="1350" dirty="0"/>
          </a:p>
          <a:p>
            <a:pPr marL="0" indent="0" algn="ctr">
              <a:buNone/>
            </a:pPr>
            <a:r>
              <a:rPr lang="en-US" sz="1350" b="1" dirty="0">
                <a:solidFill>
                  <a:srgbClr val="FFFFFF"/>
                </a:solidFill>
              </a:rPr>
              <a:t>features</a:t>
            </a:r>
            <a:endParaRPr lang="en-US" sz="1350" dirty="0"/>
          </a:p>
        </p:txBody>
      </p:sp>
      <p:sp>
        <p:nvSpPr>
          <p:cNvPr id="15" name="Shape 13"/>
          <p:cNvSpPr/>
          <p:nvPr/>
        </p:nvSpPr>
        <p:spPr>
          <a:xfrm>
            <a:off x="2743200" y="1828800"/>
            <a:ext cx="132588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16" name="Text 14"/>
          <p:cNvSpPr/>
          <p:nvPr/>
        </p:nvSpPr>
        <p:spPr>
          <a:xfrm>
            <a:off x="2852928" y="1975104"/>
            <a:ext cx="1097280" cy="502920"/>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rPr>
              <a:t>GCNConv</a:t>
            </a:r>
            <a:endParaRPr lang="en-US" sz="1350" dirty="0"/>
          </a:p>
          <a:p>
            <a:pPr marL="0" indent="0" algn="ctr">
              <a:buNone/>
            </a:pPr>
            <a:r>
              <a:rPr lang="en-US" sz="1350" b="1" dirty="0">
                <a:solidFill>
                  <a:srgbClr val="FFFFFF"/>
                </a:solidFill>
              </a:rPr>
              <a:t>128 hidden</a:t>
            </a:r>
            <a:endParaRPr lang="en-US" sz="1350" dirty="0"/>
          </a:p>
        </p:txBody>
      </p:sp>
      <p:sp>
        <p:nvSpPr>
          <p:cNvPr id="17" name="Shape 15"/>
          <p:cNvSpPr/>
          <p:nvPr/>
        </p:nvSpPr>
        <p:spPr>
          <a:xfrm>
            <a:off x="4754880" y="1828800"/>
            <a:ext cx="132588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18" name="Text 16"/>
          <p:cNvSpPr/>
          <p:nvPr/>
        </p:nvSpPr>
        <p:spPr>
          <a:xfrm>
            <a:off x="4864608" y="1975104"/>
            <a:ext cx="1097280" cy="502920"/>
          </a:xfrm>
          <a:prstGeom prst="rect">
            <a:avLst/>
          </a:prstGeom>
          <a:noFill/>
          <a:ln/>
        </p:spPr>
        <p:txBody>
          <a:bodyPr wrap="square" lIns="0" tIns="0" rIns="0" bIns="0" rtlCol="0" anchor="ctr">
            <a:normAutofit fontScale="92500" lnSpcReduction="10000"/>
          </a:bodyPr>
          <a:lstStyle/>
          <a:p>
            <a:pPr marL="0" indent="0" algn="ctr">
              <a:buNone/>
            </a:pPr>
            <a:r>
              <a:rPr lang="en-US" sz="1350" dirty="0">
                <a:solidFill>
                  <a:srgbClr val="FFFFFF"/>
                </a:solidFill>
              </a:rPr>
              <a:t>BatchNorm</a:t>
            </a:r>
            <a:endParaRPr lang="en-US" sz="1350" dirty="0"/>
          </a:p>
          <a:p>
            <a:pPr marL="0" indent="0" algn="ctr">
              <a:buNone/>
            </a:pPr>
            <a:r>
              <a:rPr lang="en-US" sz="1350" dirty="0">
                <a:solidFill>
                  <a:srgbClr val="FFFFFF"/>
                </a:solidFill>
              </a:rPr>
              <a:t>ReLU</a:t>
            </a:r>
            <a:endParaRPr lang="en-US" sz="1350" dirty="0"/>
          </a:p>
          <a:p>
            <a:pPr marL="0" indent="0" algn="ctr">
              <a:buNone/>
            </a:pPr>
            <a:r>
              <a:rPr lang="en-US" sz="1350" dirty="0">
                <a:solidFill>
                  <a:srgbClr val="FFFFFF"/>
                </a:solidFill>
              </a:rPr>
              <a:t>Dropout</a:t>
            </a:r>
            <a:endParaRPr lang="en-US" sz="1350" dirty="0"/>
          </a:p>
        </p:txBody>
      </p:sp>
      <p:sp>
        <p:nvSpPr>
          <p:cNvPr id="19" name="Shape 17"/>
          <p:cNvSpPr/>
          <p:nvPr/>
        </p:nvSpPr>
        <p:spPr>
          <a:xfrm>
            <a:off x="6812280" y="1828800"/>
            <a:ext cx="132588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20" name="Text 18"/>
          <p:cNvSpPr/>
          <p:nvPr/>
        </p:nvSpPr>
        <p:spPr>
          <a:xfrm>
            <a:off x="6922008" y="1975104"/>
            <a:ext cx="1097280" cy="502920"/>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rPr>
              <a:t>GCNConv</a:t>
            </a:r>
            <a:endParaRPr lang="en-US" sz="1350" dirty="0"/>
          </a:p>
          <a:p>
            <a:pPr marL="0" indent="0" algn="ctr">
              <a:buNone/>
            </a:pPr>
            <a:r>
              <a:rPr lang="en-US" sz="1350" b="1" dirty="0">
                <a:solidFill>
                  <a:srgbClr val="FFFFFF"/>
                </a:solidFill>
              </a:rPr>
              <a:t>40 logits</a:t>
            </a:r>
            <a:endParaRPr lang="en-US" sz="1350" dirty="0"/>
          </a:p>
        </p:txBody>
      </p:sp>
      <p:sp>
        <p:nvSpPr>
          <p:cNvPr id="21" name="Shape 19"/>
          <p:cNvSpPr/>
          <p:nvPr/>
        </p:nvSpPr>
        <p:spPr>
          <a:xfrm>
            <a:off x="8869680" y="1828800"/>
            <a:ext cx="1325880" cy="868680"/>
          </a:xfrm>
          <a:prstGeom prst="roundRect">
            <a:avLst>
              <a:gd name="adj" fmla="val 14737"/>
            </a:avLst>
          </a:prstGeom>
          <a:solidFill>
            <a:srgbClr val="15304E"/>
          </a:solidFill>
          <a:ln w="10160">
            <a:solidFill>
              <a:srgbClr val="37D6E5"/>
            </a:solidFill>
            <a:prstDash val="solid"/>
          </a:ln>
        </p:spPr>
        <p:txBody>
          <a:bodyPr/>
          <a:lstStyle/>
          <a:p>
            <a:endParaRPr lang="en-US"/>
          </a:p>
        </p:txBody>
      </p:sp>
      <p:sp>
        <p:nvSpPr>
          <p:cNvPr id="22" name="Text 20"/>
          <p:cNvSpPr/>
          <p:nvPr/>
        </p:nvSpPr>
        <p:spPr>
          <a:xfrm>
            <a:off x="8979408" y="1975104"/>
            <a:ext cx="1097280" cy="502920"/>
          </a:xfrm>
          <a:prstGeom prst="rect">
            <a:avLst/>
          </a:prstGeom>
          <a:noFill/>
          <a:ln/>
        </p:spPr>
        <p:txBody>
          <a:bodyPr wrap="square" lIns="0" tIns="0" rIns="0" bIns="0" rtlCol="0" anchor="ctr">
            <a:normAutofit/>
          </a:bodyPr>
          <a:lstStyle/>
          <a:p>
            <a:pPr marL="0" indent="0" algn="ctr">
              <a:buNone/>
            </a:pPr>
            <a:r>
              <a:rPr lang="en-US" sz="1350" b="1" dirty="0">
                <a:solidFill>
                  <a:srgbClr val="FFFFFF"/>
                </a:solidFill>
              </a:rPr>
              <a:t>Class</a:t>
            </a:r>
            <a:endParaRPr lang="en-US" sz="1350" dirty="0"/>
          </a:p>
          <a:p>
            <a:pPr marL="0" indent="0" algn="ctr">
              <a:buNone/>
            </a:pPr>
            <a:r>
              <a:rPr lang="en-US" sz="1350" b="1" dirty="0">
                <a:solidFill>
                  <a:srgbClr val="FFFFFF"/>
                </a:solidFill>
              </a:rPr>
              <a:t>prediction</a:t>
            </a:r>
            <a:endParaRPr lang="en-US" sz="1350" dirty="0"/>
          </a:p>
        </p:txBody>
      </p:sp>
      <p:sp>
        <p:nvSpPr>
          <p:cNvPr id="23" name="Shape 21"/>
          <p:cNvSpPr/>
          <p:nvPr/>
        </p:nvSpPr>
        <p:spPr>
          <a:xfrm>
            <a:off x="822960" y="3337560"/>
            <a:ext cx="4800600" cy="960120"/>
          </a:xfrm>
          <a:prstGeom prst="roundRect">
            <a:avLst>
              <a:gd name="adj" fmla="val 11429"/>
            </a:avLst>
          </a:prstGeom>
          <a:solidFill>
            <a:srgbClr val="0D1F36"/>
          </a:solidFill>
          <a:ln w="11430">
            <a:solidFill>
              <a:srgbClr val="37D6E5">
                <a:alpha val="75000"/>
              </a:srgbClr>
            </a:solidFill>
            <a:prstDash val="solid"/>
          </a:ln>
        </p:spPr>
        <p:txBody>
          <a:bodyPr/>
          <a:lstStyle/>
          <a:p>
            <a:endParaRPr lang="en-US"/>
          </a:p>
        </p:txBody>
      </p:sp>
      <p:sp>
        <p:nvSpPr>
          <p:cNvPr id="24" name="Text 22"/>
          <p:cNvSpPr/>
          <p:nvPr/>
        </p:nvSpPr>
        <p:spPr>
          <a:xfrm>
            <a:off x="987552" y="3465576"/>
            <a:ext cx="4471416" cy="228600"/>
          </a:xfrm>
          <a:prstGeom prst="rect">
            <a:avLst/>
          </a:prstGeom>
          <a:noFill/>
          <a:ln/>
        </p:spPr>
        <p:txBody>
          <a:bodyPr wrap="square" lIns="0" tIns="0" rIns="0" bIns="0" rtlCol="0" anchor="ctr"/>
          <a:lstStyle/>
          <a:p>
            <a:pPr marL="0" indent="0">
              <a:buNone/>
            </a:pPr>
            <a:r>
              <a:rPr lang="en-US" sz="1350" b="1" dirty="0">
                <a:solidFill>
                  <a:srgbClr val="37D6E5"/>
                </a:solidFill>
              </a:rPr>
              <a:t>GCN strengths</a:t>
            </a:r>
            <a:endParaRPr lang="en-US" sz="1350" dirty="0"/>
          </a:p>
        </p:txBody>
      </p:sp>
      <p:sp>
        <p:nvSpPr>
          <p:cNvPr id="25" name="Text 23"/>
          <p:cNvSpPr/>
          <p:nvPr/>
        </p:nvSpPr>
        <p:spPr>
          <a:xfrm>
            <a:off x="987552" y="3776472"/>
            <a:ext cx="4471416" cy="411480"/>
          </a:xfrm>
          <a:prstGeom prst="rect">
            <a:avLst/>
          </a:prstGeom>
          <a:noFill/>
          <a:ln/>
        </p:spPr>
        <p:txBody>
          <a:bodyPr wrap="square" lIns="0" tIns="0" rIns="0" bIns="0" rtlCol="0" anchor="t">
            <a:normAutofit/>
          </a:bodyPr>
          <a:lstStyle/>
          <a:p>
            <a:pPr marL="0" indent="0">
              <a:buNone/>
            </a:pPr>
            <a:r>
              <a:rPr lang="en-US" sz="1220" dirty="0">
                <a:solidFill>
                  <a:srgbClr val="B8C6D8"/>
                </a:solidFill>
              </a:rPr>
              <a:t>Parameter-efficient graph convolution combines paper features with information from connected citation nodes.</a:t>
            </a:r>
            <a:endParaRPr lang="en-US" sz="1220" dirty="0"/>
          </a:p>
        </p:txBody>
      </p:sp>
      <p:sp>
        <p:nvSpPr>
          <p:cNvPr id="26" name="Shape 24"/>
          <p:cNvSpPr/>
          <p:nvPr/>
        </p:nvSpPr>
        <p:spPr>
          <a:xfrm>
            <a:off x="6126480" y="3424428"/>
            <a:ext cx="3794760" cy="1097280"/>
          </a:xfrm>
          <a:prstGeom prst="roundRect">
            <a:avLst>
              <a:gd name="adj" fmla="val 10000"/>
            </a:avLst>
          </a:prstGeom>
          <a:solidFill>
            <a:srgbClr val="0D1F36"/>
          </a:solidFill>
          <a:ln w="11430">
            <a:solidFill>
              <a:srgbClr val="FFB703">
                <a:alpha val="75000"/>
              </a:srgbClr>
            </a:solidFill>
            <a:prstDash val="solid"/>
          </a:ln>
        </p:spPr>
        <p:txBody>
          <a:bodyPr/>
          <a:lstStyle/>
          <a:p>
            <a:endParaRPr lang="en-US"/>
          </a:p>
        </p:txBody>
      </p:sp>
      <p:sp>
        <p:nvSpPr>
          <p:cNvPr id="27" name="Text 25"/>
          <p:cNvSpPr/>
          <p:nvPr/>
        </p:nvSpPr>
        <p:spPr>
          <a:xfrm>
            <a:off x="6291072" y="3465576"/>
            <a:ext cx="3465576" cy="228600"/>
          </a:xfrm>
          <a:prstGeom prst="rect">
            <a:avLst/>
          </a:prstGeom>
          <a:noFill/>
          <a:ln/>
        </p:spPr>
        <p:txBody>
          <a:bodyPr wrap="square" lIns="0" tIns="0" rIns="0" bIns="0" rtlCol="0" anchor="ctr"/>
          <a:lstStyle/>
          <a:p>
            <a:pPr marL="0" indent="0">
              <a:buNone/>
            </a:pPr>
            <a:r>
              <a:rPr lang="en-US" sz="1350" b="1" dirty="0">
                <a:solidFill>
                  <a:srgbClr val="FFB703"/>
                </a:solidFill>
              </a:rPr>
              <a:t>Selected tuned setting</a:t>
            </a:r>
            <a:endParaRPr lang="en-US" sz="1350" dirty="0"/>
          </a:p>
        </p:txBody>
      </p:sp>
      <p:sp>
        <p:nvSpPr>
          <p:cNvPr id="28" name="Text 26"/>
          <p:cNvSpPr/>
          <p:nvPr/>
        </p:nvSpPr>
        <p:spPr>
          <a:xfrm>
            <a:off x="6291072" y="3776472"/>
            <a:ext cx="3465576" cy="548640"/>
          </a:xfrm>
          <a:prstGeom prst="rect">
            <a:avLst/>
          </a:prstGeom>
          <a:noFill/>
          <a:ln/>
        </p:spPr>
        <p:txBody>
          <a:bodyPr wrap="square" lIns="0" tIns="0" rIns="0" bIns="0" rtlCol="0" anchor="t">
            <a:normAutofit fontScale="92500" lnSpcReduction="20000"/>
          </a:bodyPr>
          <a:lstStyle/>
          <a:p>
            <a:pPr marL="0" indent="0">
              <a:buNone/>
            </a:pPr>
            <a:r>
              <a:rPr lang="en-US" sz="1220" dirty="0">
                <a:solidFill>
                  <a:srgbClr val="B8C6D8"/>
                </a:solidFill>
              </a:rPr>
              <a:t>Hidden dimension: 128</a:t>
            </a:r>
            <a:endParaRPr lang="en-US" sz="1220" dirty="0"/>
          </a:p>
          <a:p>
            <a:pPr marL="0" indent="0">
              <a:buNone/>
            </a:pPr>
            <a:r>
              <a:rPr lang="en-US" sz="1220" dirty="0">
                <a:solidFill>
                  <a:srgbClr val="B8C6D8"/>
                </a:solidFill>
              </a:rPr>
              <a:t>Graph layers: 3</a:t>
            </a:r>
            <a:endParaRPr lang="en-US" sz="1220" dirty="0"/>
          </a:p>
          <a:p>
            <a:pPr marL="0" indent="0">
              <a:buNone/>
            </a:pPr>
            <a:r>
              <a:rPr lang="en-US" sz="1220" dirty="0">
                <a:solidFill>
                  <a:srgbClr val="B8C6D8"/>
                </a:solidFill>
              </a:rPr>
              <a:t>Dropout: 0.5</a:t>
            </a:r>
            <a:endParaRPr lang="en-US" sz="1220" dirty="0"/>
          </a:p>
          <a:p>
            <a:pPr marL="0" indent="0">
              <a:buNone/>
            </a:pPr>
            <a:r>
              <a:rPr lang="en-US" sz="1220" dirty="0">
                <a:solidFill>
                  <a:srgbClr val="B8C6D8"/>
                </a:solidFill>
              </a:rPr>
              <a:t>Learning rate: 0.005</a:t>
            </a:r>
            <a:endParaRPr lang="en-US" sz="1220" dirty="0"/>
          </a:p>
        </p:txBody>
      </p:sp>
      <p:sp>
        <p:nvSpPr>
          <p:cNvPr id="29" name="Text 27"/>
          <p:cNvSpPr/>
          <p:nvPr/>
        </p:nvSpPr>
        <p:spPr>
          <a:xfrm>
            <a:off x="868680" y="5102352"/>
            <a:ext cx="219456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21,928</a:t>
            </a:r>
            <a:endParaRPr lang="en-US" sz="2500" dirty="0"/>
          </a:p>
        </p:txBody>
      </p:sp>
      <p:sp>
        <p:nvSpPr>
          <p:cNvPr id="30" name="Text 28"/>
          <p:cNvSpPr/>
          <p:nvPr/>
        </p:nvSpPr>
        <p:spPr>
          <a:xfrm>
            <a:off x="868680" y="5541264"/>
            <a:ext cx="219456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Baseline parameters</a:t>
            </a:r>
            <a:endParaRPr lang="en-US" sz="950" dirty="0"/>
          </a:p>
        </p:txBody>
      </p:sp>
      <p:sp>
        <p:nvSpPr>
          <p:cNvPr id="31" name="Shape 29"/>
          <p:cNvSpPr/>
          <p:nvPr/>
        </p:nvSpPr>
        <p:spPr>
          <a:xfrm>
            <a:off x="868680" y="5815584"/>
            <a:ext cx="1005840" cy="0"/>
          </a:xfrm>
          <a:prstGeom prst="line">
            <a:avLst/>
          </a:prstGeom>
          <a:noFill/>
          <a:ln w="20320">
            <a:solidFill>
              <a:srgbClr val="7DD181"/>
            </a:solidFill>
            <a:prstDash val="solid"/>
          </a:ln>
        </p:spPr>
        <p:txBody>
          <a:bodyPr/>
          <a:lstStyle/>
          <a:p>
            <a:endParaRPr lang="en-US"/>
          </a:p>
        </p:txBody>
      </p:sp>
      <p:sp>
        <p:nvSpPr>
          <p:cNvPr id="32" name="Text 30"/>
          <p:cNvSpPr/>
          <p:nvPr/>
        </p:nvSpPr>
        <p:spPr>
          <a:xfrm>
            <a:off x="3429000" y="5102352"/>
            <a:ext cx="22860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0.7212</a:t>
            </a:r>
            <a:endParaRPr lang="en-US" sz="2500" dirty="0"/>
          </a:p>
        </p:txBody>
      </p:sp>
      <p:sp>
        <p:nvSpPr>
          <p:cNvPr id="33" name="Text 31"/>
          <p:cNvSpPr/>
          <p:nvPr/>
        </p:nvSpPr>
        <p:spPr>
          <a:xfrm>
            <a:off x="3429000" y="5541264"/>
            <a:ext cx="22860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Best validation accuracy</a:t>
            </a:r>
            <a:endParaRPr lang="en-US" sz="950" dirty="0"/>
          </a:p>
        </p:txBody>
      </p:sp>
      <p:sp>
        <p:nvSpPr>
          <p:cNvPr id="34" name="Shape 32"/>
          <p:cNvSpPr/>
          <p:nvPr/>
        </p:nvSpPr>
        <p:spPr>
          <a:xfrm>
            <a:off x="3429000" y="5815584"/>
            <a:ext cx="1005840" cy="0"/>
          </a:xfrm>
          <a:prstGeom prst="line">
            <a:avLst/>
          </a:prstGeom>
          <a:noFill/>
          <a:ln w="20320">
            <a:solidFill>
              <a:srgbClr val="37D6E5"/>
            </a:solidFill>
            <a:prstDash val="solid"/>
          </a:ln>
        </p:spPr>
        <p:txBody>
          <a:bodyPr/>
          <a:lstStyle/>
          <a:p>
            <a:endParaRPr lang="en-US"/>
          </a:p>
        </p:txBody>
      </p:sp>
      <p:sp>
        <p:nvSpPr>
          <p:cNvPr id="35" name="Text 33"/>
          <p:cNvSpPr/>
          <p:nvPr/>
        </p:nvSpPr>
        <p:spPr>
          <a:xfrm>
            <a:off x="6172200" y="5102352"/>
            <a:ext cx="201168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0.7114</a:t>
            </a:r>
            <a:endParaRPr lang="en-US" sz="2500" dirty="0"/>
          </a:p>
        </p:txBody>
      </p:sp>
      <p:sp>
        <p:nvSpPr>
          <p:cNvPr id="36" name="Text 34"/>
          <p:cNvSpPr/>
          <p:nvPr/>
        </p:nvSpPr>
        <p:spPr>
          <a:xfrm>
            <a:off x="6172200" y="5541264"/>
            <a:ext cx="201168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Test accuracy</a:t>
            </a:r>
            <a:endParaRPr lang="en-US" sz="950" dirty="0"/>
          </a:p>
        </p:txBody>
      </p:sp>
      <p:sp>
        <p:nvSpPr>
          <p:cNvPr id="37" name="Shape 35"/>
          <p:cNvSpPr/>
          <p:nvPr/>
        </p:nvSpPr>
        <p:spPr>
          <a:xfrm>
            <a:off x="6172200" y="5815584"/>
            <a:ext cx="1005840" cy="0"/>
          </a:xfrm>
          <a:prstGeom prst="line">
            <a:avLst/>
          </a:prstGeom>
          <a:noFill/>
          <a:ln w="20320">
            <a:solidFill>
              <a:srgbClr val="4F8BFF"/>
            </a:solidFill>
            <a:prstDash val="solid"/>
          </a:ln>
        </p:spPr>
        <p:txBody>
          <a:bodyPr/>
          <a:lstStyle/>
          <a:p>
            <a:endParaRPr lang="en-US"/>
          </a:p>
        </p:txBody>
      </p:sp>
      <p:sp>
        <p:nvSpPr>
          <p:cNvPr id="39" name="Text 36"/>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 </a:t>
            </a:r>
            <a:endParaRPr lang="en-US" sz="750" dirty="0"/>
          </a:p>
        </p:txBody>
      </p:sp>
      <p:sp>
        <p:nvSpPr>
          <p:cNvPr id="40" name="Text 37"/>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Architecture 2: GraphSAGE</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Mean-based neighborhood aggregation for paper-node representation</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2057400" y="2240280"/>
            <a:ext cx="594360" cy="0"/>
          </a:xfrm>
          <a:prstGeom prst="line">
            <a:avLst/>
          </a:prstGeom>
          <a:noFill/>
          <a:ln w="25400">
            <a:solidFill>
              <a:srgbClr val="4F8BFF"/>
            </a:solidFill>
            <a:prstDash val="solid"/>
            <a:tailEnd type="triangle"/>
          </a:ln>
        </p:spPr>
        <p:txBody>
          <a:bodyPr/>
          <a:lstStyle/>
          <a:p>
            <a:endParaRPr lang="en-US"/>
          </a:p>
        </p:txBody>
      </p:sp>
      <p:sp>
        <p:nvSpPr>
          <p:cNvPr id="10" name="Shape 8"/>
          <p:cNvSpPr/>
          <p:nvPr/>
        </p:nvSpPr>
        <p:spPr>
          <a:xfrm>
            <a:off x="4069080" y="2240280"/>
            <a:ext cx="594360" cy="0"/>
          </a:xfrm>
          <a:prstGeom prst="line">
            <a:avLst/>
          </a:prstGeom>
          <a:noFill/>
          <a:ln w="25400">
            <a:solidFill>
              <a:srgbClr val="4F8BFF"/>
            </a:solidFill>
            <a:prstDash val="solid"/>
            <a:tailEnd type="triangle"/>
          </a:ln>
        </p:spPr>
        <p:txBody>
          <a:bodyPr/>
          <a:lstStyle/>
          <a:p>
            <a:endParaRPr lang="en-US"/>
          </a:p>
        </p:txBody>
      </p:sp>
      <p:sp>
        <p:nvSpPr>
          <p:cNvPr id="11" name="Shape 9"/>
          <p:cNvSpPr/>
          <p:nvPr/>
        </p:nvSpPr>
        <p:spPr>
          <a:xfrm>
            <a:off x="6217920" y="2240280"/>
            <a:ext cx="594360" cy="0"/>
          </a:xfrm>
          <a:prstGeom prst="line">
            <a:avLst/>
          </a:prstGeom>
          <a:noFill/>
          <a:ln w="25400">
            <a:solidFill>
              <a:srgbClr val="4F8BFF"/>
            </a:solidFill>
            <a:prstDash val="solid"/>
            <a:tailEnd type="triangle"/>
          </a:ln>
        </p:spPr>
        <p:txBody>
          <a:bodyPr/>
          <a:lstStyle/>
          <a:p>
            <a:endParaRPr lang="en-US"/>
          </a:p>
        </p:txBody>
      </p:sp>
      <p:sp>
        <p:nvSpPr>
          <p:cNvPr id="12" name="Shape 10"/>
          <p:cNvSpPr/>
          <p:nvPr/>
        </p:nvSpPr>
        <p:spPr>
          <a:xfrm>
            <a:off x="8321040" y="2240280"/>
            <a:ext cx="594360" cy="0"/>
          </a:xfrm>
          <a:prstGeom prst="line">
            <a:avLst/>
          </a:prstGeom>
          <a:noFill/>
          <a:ln w="25400">
            <a:solidFill>
              <a:srgbClr val="4F8BFF"/>
            </a:solidFill>
            <a:prstDash val="solid"/>
            <a:tailEnd type="triangle"/>
          </a:ln>
        </p:spPr>
        <p:txBody>
          <a:bodyPr/>
          <a:lstStyle/>
          <a:p>
            <a:endParaRPr lang="en-US"/>
          </a:p>
        </p:txBody>
      </p:sp>
      <p:sp>
        <p:nvSpPr>
          <p:cNvPr id="13" name="Shape 11"/>
          <p:cNvSpPr/>
          <p:nvPr/>
        </p:nvSpPr>
        <p:spPr>
          <a:xfrm>
            <a:off x="731520" y="1828800"/>
            <a:ext cx="141732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14" name="Text 12"/>
          <p:cNvSpPr/>
          <p:nvPr/>
        </p:nvSpPr>
        <p:spPr>
          <a:xfrm>
            <a:off x="841248" y="1975104"/>
            <a:ext cx="1207008" cy="50292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rPr>
              <a:t>128 input</a:t>
            </a:r>
            <a:endParaRPr lang="en-US" sz="1320" dirty="0"/>
          </a:p>
          <a:p>
            <a:pPr marL="0" indent="0" algn="ctr">
              <a:buNone/>
            </a:pPr>
            <a:r>
              <a:rPr lang="en-US" sz="1320" b="1" dirty="0">
                <a:solidFill>
                  <a:srgbClr val="FFFFFF"/>
                </a:solidFill>
              </a:rPr>
              <a:t>features</a:t>
            </a:r>
            <a:endParaRPr lang="en-US" sz="1320" dirty="0"/>
          </a:p>
        </p:txBody>
      </p:sp>
      <p:sp>
        <p:nvSpPr>
          <p:cNvPr id="15" name="Shape 13"/>
          <p:cNvSpPr/>
          <p:nvPr/>
        </p:nvSpPr>
        <p:spPr>
          <a:xfrm>
            <a:off x="2743200" y="1828800"/>
            <a:ext cx="1417320" cy="868680"/>
          </a:xfrm>
          <a:prstGeom prst="roundRect">
            <a:avLst>
              <a:gd name="adj" fmla="val 14737"/>
            </a:avLst>
          </a:prstGeom>
          <a:solidFill>
            <a:srgbClr val="102A47"/>
          </a:solidFill>
          <a:ln w="10160">
            <a:solidFill>
              <a:srgbClr val="4F8BFF"/>
            </a:solidFill>
            <a:prstDash val="solid"/>
          </a:ln>
        </p:spPr>
        <p:txBody>
          <a:bodyPr/>
          <a:lstStyle/>
          <a:p>
            <a:endParaRPr lang="en-US"/>
          </a:p>
        </p:txBody>
      </p:sp>
      <p:sp>
        <p:nvSpPr>
          <p:cNvPr id="16" name="Text 14"/>
          <p:cNvSpPr/>
          <p:nvPr/>
        </p:nvSpPr>
        <p:spPr>
          <a:xfrm>
            <a:off x="2852928" y="1975104"/>
            <a:ext cx="1207008" cy="502920"/>
          </a:xfrm>
          <a:prstGeom prst="rect">
            <a:avLst/>
          </a:prstGeom>
          <a:noFill/>
          <a:ln/>
        </p:spPr>
        <p:txBody>
          <a:bodyPr wrap="square" lIns="0" tIns="0" rIns="0" bIns="0" rtlCol="0" anchor="ctr">
            <a:normAutofit fontScale="92500"/>
          </a:bodyPr>
          <a:lstStyle/>
          <a:p>
            <a:pPr marL="0" indent="0" algn="ctr">
              <a:buNone/>
            </a:pPr>
            <a:r>
              <a:rPr lang="en-US" sz="1320" b="1" dirty="0">
                <a:solidFill>
                  <a:srgbClr val="FFFFFF"/>
                </a:solidFill>
              </a:rPr>
              <a:t>SAGEConv</a:t>
            </a:r>
            <a:endParaRPr lang="en-US" sz="1320" dirty="0"/>
          </a:p>
          <a:p>
            <a:pPr marL="0" indent="0" algn="ctr">
              <a:buNone/>
            </a:pPr>
            <a:r>
              <a:rPr lang="en-US" sz="1320" b="1" dirty="0">
                <a:solidFill>
                  <a:srgbClr val="FFFFFF"/>
                </a:solidFill>
              </a:rPr>
              <a:t>mean aggregation</a:t>
            </a:r>
            <a:endParaRPr lang="en-US" sz="1320" dirty="0"/>
          </a:p>
        </p:txBody>
      </p:sp>
      <p:sp>
        <p:nvSpPr>
          <p:cNvPr id="17" name="Shape 15"/>
          <p:cNvSpPr/>
          <p:nvPr/>
        </p:nvSpPr>
        <p:spPr>
          <a:xfrm>
            <a:off x="4892040" y="1828800"/>
            <a:ext cx="141732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18" name="Text 16"/>
          <p:cNvSpPr/>
          <p:nvPr/>
        </p:nvSpPr>
        <p:spPr>
          <a:xfrm>
            <a:off x="5001768" y="1975104"/>
            <a:ext cx="1207008" cy="502920"/>
          </a:xfrm>
          <a:prstGeom prst="rect">
            <a:avLst/>
          </a:prstGeom>
          <a:noFill/>
          <a:ln/>
        </p:spPr>
        <p:txBody>
          <a:bodyPr wrap="square" lIns="0" tIns="0" rIns="0" bIns="0" rtlCol="0" anchor="ctr">
            <a:normAutofit fontScale="92500" lnSpcReduction="10000"/>
          </a:bodyPr>
          <a:lstStyle/>
          <a:p>
            <a:pPr marL="0" indent="0" algn="ctr">
              <a:buNone/>
            </a:pPr>
            <a:r>
              <a:rPr lang="en-US" sz="1320" dirty="0">
                <a:solidFill>
                  <a:srgbClr val="FFFFFF"/>
                </a:solidFill>
              </a:rPr>
              <a:t>BatchNorm</a:t>
            </a:r>
            <a:endParaRPr lang="en-US" sz="1320" dirty="0"/>
          </a:p>
          <a:p>
            <a:pPr marL="0" indent="0" algn="ctr">
              <a:buNone/>
            </a:pPr>
            <a:r>
              <a:rPr lang="en-US" sz="1320" dirty="0">
                <a:solidFill>
                  <a:srgbClr val="FFFFFF"/>
                </a:solidFill>
              </a:rPr>
              <a:t>ReLU</a:t>
            </a:r>
            <a:endParaRPr lang="en-US" sz="1320" dirty="0"/>
          </a:p>
          <a:p>
            <a:pPr marL="0" indent="0" algn="ctr">
              <a:buNone/>
            </a:pPr>
            <a:r>
              <a:rPr lang="en-US" sz="1320" dirty="0">
                <a:solidFill>
                  <a:srgbClr val="FFFFFF"/>
                </a:solidFill>
              </a:rPr>
              <a:t>Dropout</a:t>
            </a:r>
            <a:endParaRPr lang="en-US" sz="1320" dirty="0"/>
          </a:p>
        </p:txBody>
      </p:sp>
      <p:sp>
        <p:nvSpPr>
          <p:cNvPr id="19" name="Shape 17"/>
          <p:cNvSpPr/>
          <p:nvPr/>
        </p:nvSpPr>
        <p:spPr>
          <a:xfrm>
            <a:off x="6995160" y="1828800"/>
            <a:ext cx="141732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20" name="Text 18"/>
          <p:cNvSpPr/>
          <p:nvPr/>
        </p:nvSpPr>
        <p:spPr>
          <a:xfrm>
            <a:off x="7104888" y="1975104"/>
            <a:ext cx="1207008" cy="50292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rPr>
              <a:t>SAGEConv</a:t>
            </a:r>
            <a:endParaRPr lang="en-US" sz="1320" dirty="0"/>
          </a:p>
          <a:p>
            <a:pPr marL="0" indent="0" algn="ctr">
              <a:buNone/>
            </a:pPr>
            <a:r>
              <a:rPr lang="en-US" sz="1320" b="1" dirty="0">
                <a:solidFill>
                  <a:srgbClr val="FFFFFF"/>
                </a:solidFill>
              </a:rPr>
              <a:t>40 logits</a:t>
            </a:r>
            <a:endParaRPr lang="en-US" sz="1320" dirty="0"/>
          </a:p>
        </p:txBody>
      </p:sp>
      <p:sp>
        <p:nvSpPr>
          <p:cNvPr id="21" name="Shape 19"/>
          <p:cNvSpPr/>
          <p:nvPr/>
        </p:nvSpPr>
        <p:spPr>
          <a:xfrm>
            <a:off x="9006840" y="1828800"/>
            <a:ext cx="1417320" cy="868680"/>
          </a:xfrm>
          <a:prstGeom prst="roundRect">
            <a:avLst>
              <a:gd name="adj" fmla="val 14737"/>
            </a:avLst>
          </a:prstGeom>
          <a:solidFill>
            <a:srgbClr val="0D1F36"/>
          </a:solidFill>
          <a:ln w="10160">
            <a:solidFill>
              <a:srgbClr val="23374F"/>
            </a:solidFill>
            <a:prstDash val="solid"/>
          </a:ln>
        </p:spPr>
        <p:txBody>
          <a:bodyPr/>
          <a:lstStyle/>
          <a:p>
            <a:endParaRPr lang="en-US"/>
          </a:p>
        </p:txBody>
      </p:sp>
      <p:sp>
        <p:nvSpPr>
          <p:cNvPr id="22" name="Text 20"/>
          <p:cNvSpPr/>
          <p:nvPr/>
        </p:nvSpPr>
        <p:spPr>
          <a:xfrm>
            <a:off x="9116568" y="1975104"/>
            <a:ext cx="1207008" cy="502920"/>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rPr>
              <a:t>Class</a:t>
            </a:r>
            <a:endParaRPr lang="en-US" sz="1320" dirty="0"/>
          </a:p>
          <a:p>
            <a:pPr marL="0" indent="0" algn="ctr">
              <a:buNone/>
            </a:pPr>
            <a:r>
              <a:rPr lang="en-US" sz="1320" b="1" dirty="0">
                <a:solidFill>
                  <a:srgbClr val="FFFFFF"/>
                </a:solidFill>
              </a:rPr>
              <a:t>prediction</a:t>
            </a:r>
            <a:endParaRPr lang="en-US" sz="1320" dirty="0"/>
          </a:p>
        </p:txBody>
      </p:sp>
      <p:sp>
        <p:nvSpPr>
          <p:cNvPr id="23" name="Shape 21"/>
          <p:cNvSpPr/>
          <p:nvPr/>
        </p:nvSpPr>
        <p:spPr>
          <a:xfrm>
            <a:off x="822960" y="3337560"/>
            <a:ext cx="5303520" cy="987552"/>
          </a:xfrm>
          <a:prstGeom prst="roundRect">
            <a:avLst>
              <a:gd name="adj" fmla="val 11111"/>
            </a:avLst>
          </a:prstGeom>
          <a:solidFill>
            <a:srgbClr val="0D1F36"/>
          </a:solidFill>
          <a:ln w="11430">
            <a:solidFill>
              <a:srgbClr val="4F8BFF">
                <a:alpha val="75000"/>
              </a:srgbClr>
            </a:solidFill>
            <a:prstDash val="solid"/>
          </a:ln>
        </p:spPr>
        <p:txBody>
          <a:bodyPr/>
          <a:lstStyle/>
          <a:p>
            <a:endParaRPr lang="en-US"/>
          </a:p>
        </p:txBody>
      </p:sp>
      <p:sp>
        <p:nvSpPr>
          <p:cNvPr id="24" name="Text 22"/>
          <p:cNvSpPr/>
          <p:nvPr/>
        </p:nvSpPr>
        <p:spPr>
          <a:xfrm>
            <a:off x="987552" y="3465576"/>
            <a:ext cx="4974336" cy="228600"/>
          </a:xfrm>
          <a:prstGeom prst="rect">
            <a:avLst/>
          </a:prstGeom>
          <a:noFill/>
          <a:ln/>
        </p:spPr>
        <p:txBody>
          <a:bodyPr wrap="square" lIns="0" tIns="0" rIns="0" bIns="0" rtlCol="0" anchor="ctr"/>
          <a:lstStyle/>
          <a:p>
            <a:pPr marL="0" indent="0">
              <a:buNone/>
            </a:pPr>
            <a:r>
              <a:rPr lang="en-US" sz="1350" b="1" dirty="0">
                <a:solidFill>
                  <a:srgbClr val="4F8BFF"/>
                </a:solidFill>
              </a:rPr>
              <a:t>GraphSAGE idea</a:t>
            </a:r>
            <a:endParaRPr lang="en-US" sz="1350" dirty="0"/>
          </a:p>
        </p:txBody>
      </p:sp>
      <p:sp>
        <p:nvSpPr>
          <p:cNvPr id="25" name="Text 23"/>
          <p:cNvSpPr/>
          <p:nvPr/>
        </p:nvSpPr>
        <p:spPr>
          <a:xfrm>
            <a:off x="987552" y="3776472"/>
            <a:ext cx="4974336" cy="438912"/>
          </a:xfrm>
          <a:prstGeom prst="rect">
            <a:avLst/>
          </a:prstGeom>
          <a:noFill/>
          <a:ln/>
        </p:spPr>
        <p:txBody>
          <a:bodyPr wrap="square" lIns="0" tIns="0" rIns="0" bIns="0" rtlCol="0" anchor="t">
            <a:normAutofit fontScale="92500"/>
          </a:bodyPr>
          <a:lstStyle/>
          <a:p>
            <a:pPr marL="0" indent="0">
              <a:buNone/>
            </a:pPr>
            <a:r>
              <a:rPr lang="en-US" sz="1220" dirty="0">
                <a:solidFill>
                  <a:srgbClr val="B8C6D8"/>
                </a:solidFill>
              </a:rPr>
              <a:t>The target node representation is combined with the mean representation of its neighbors. This provides a flexible way to learn from citation neighborhoods.</a:t>
            </a:r>
            <a:endParaRPr lang="en-US" sz="1220" dirty="0"/>
          </a:p>
        </p:txBody>
      </p:sp>
      <p:sp>
        <p:nvSpPr>
          <p:cNvPr id="26" name="Shape 24"/>
          <p:cNvSpPr/>
          <p:nvPr/>
        </p:nvSpPr>
        <p:spPr>
          <a:xfrm>
            <a:off x="6537960" y="3461048"/>
            <a:ext cx="3794760" cy="1097280"/>
          </a:xfrm>
          <a:prstGeom prst="roundRect">
            <a:avLst>
              <a:gd name="adj" fmla="val 10000"/>
            </a:avLst>
          </a:prstGeom>
          <a:solidFill>
            <a:srgbClr val="0D1F36"/>
          </a:solidFill>
          <a:ln w="11430">
            <a:solidFill>
              <a:srgbClr val="FFB703">
                <a:alpha val="75000"/>
              </a:srgbClr>
            </a:solidFill>
            <a:prstDash val="solid"/>
          </a:ln>
        </p:spPr>
        <p:txBody>
          <a:bodyPr/>
          <a:lstStyle/>
          <a:p>
            <a:endParaRPr lang="en-US"/>
          </a:p>
        </p:txBody>
      </p:sp>
      <p:sp>
        <p:nvSpPr>
          <p:cNvPr id="27" name="Text 25"/>
          <p:cNvSpPr/>
          <p:nvPr/>
        </p:nvSpPr>
        <p:spPr>
          <a:xfrm>
            <a:off x="6702552" y="3465576"/>
            <a:ext cx="3465576" cy="228600"/>
          </a:xfrm>
          <a:prstGeom prst="rect">
            <a:avLst/>
          </a:prstGeom>
          <a:noFill/>
          <a:ln/>
        </p:spPr>
        <p:txBody>
          <a:bodyPr wrap="square" lIns="0" tIns="0" rIns="0" bIns="0" rtlCol="0" anchor="ctr"/>
          <a:lstStyle/>
          <a:p>
            <a:pPr marL="0" indent="0">
              <a:buNone/>
            </a:pPr>
            <a:r>
              <a:rPr lang="en-US" sz="1350" b="1" dirty="0">
                <a:solidFill>
                  <a:srgbClr val="FFB703"/>
                </a:solidFill>
              </a:rPr>
              <a:t>Selected tuned setting</a:t>
            </a:r>
            <a:endParaRPr lang="en-US" sz="1350" dirty="0"/>
          </a:p>
        </p:txBody>
      </p:sp>
      <p:sp>
        <p:nvSpPr>
          <p:cNvPr id="28" name="Text 26"/>
          <p:cNvSpPr/>
          <p:nvPr/>
        </p:nvSpPr>
        <p:spPr>
          <a:xfrm>
            <a:off x="6702552" y="3776472"/>
            <a:ext cx="3465576" cy="548640"/>
          </a:xfrm>
          <a:prstGeom prst="rect">
            <a:avLst/>
          </a:prstGeom>
          <a:noFill/>
          <a:ln/>
        </p:spPr>
        <p:txBody>
          <a:bodyPr wrap="square" lIns="0" tIns="0" rIns="0" bIns="0" rtlCol="0" anchor="t">
            <a:normAutofit fontScale="92500" lnSpcReduction="20000"/>
          </a:bodyPr>
          <a:lstStyle/>
          <a:p>
            <a:pPr marL="0" indent="0">
              <a:buNone/>
            </a:pPr>
            <a:r>
              <a:rPr lang="en-US" sz="1220" dirty="0">
                <a:solidFill>
                  <a:srgbClr val="B8C6D8"/>
                </a:solidFill>
              </a:rPr>
              <a:t>Hidden dimension: 128</a:t>
            </a:r>
            <a:endParaRPr lang="en-US" sz="1220" dirty="0"/>
          </a:p>
          <a:p>
            <a:pPr marL="0" indent="0">
              <a:buNone/>
            </a:pPr>
            <a:r>
              <a:rPr lang="en-US" sz="1220" dirty="0">
                <a:solidFill>
                  <a:srgbClr val="B8C6D8"/>
                </a:solidFill>
              </a:rPr>
              <a:t>Graph layers: 3</a:t>
            </a:r>
            <a:endParaRPr lang="en-US" sz="1220" dirty="0"/>
          </a:p>
          <a:p>
            <a:pPr marL="0" indent="0">
              <a:buNone/>
            </a:pPr>
            <a:r>
              <a:rPr lang="en-US" sz="1220" dirty="0">
                <a:solidFill>
                  <a:srgbClr val="B8C6D8"/>
                </a:solidFill>
              </a:rPr>
              <a:t>Dropout: 0.5</a:t>
            </a:r>
            <a:endParaRPr lang="en-US" sz="1220" dirty="0"/>
          </a:p>
          <a:p>
            <a:pPr marL="0" indent="0">
              <a:buNone/>
            </a:pPr>
            <a:r>
              <a:rPr lang="en-US" sz="1220" dirty="0">
                <a:solidFill>
                  <a:srgbClr val="B8C6D8"/>
                </a:solidFill>
              </a:rPr>
              <a:t>Learning rate: 0.005</a:t>
            </a:r>
            <a:endParaRPr lang="en-US" sz="1220" dirty="0"/>
          </a:p>
        </p:txBody>
      </p:sp>
      <p:sp>
        <p:nvSpPr>
          <p:cNvPr id="29" name="Text 27"/>
          <p:cNvSpPr/>
          <p:nvPr/>
        </p:nvSpPr>
        <p:spPr>
          <a:xfrm>
            <a:off x="868680" y="5102352"/>
            <a:ext cx="22860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43,432</a:t>
            </a:r>
            <a:endParaRPr lang="en-US" sz="2500" dirty="0"/>
          </a:p>
        </p:txBody>
      </p:sp>
      <p:sp>
        <p:nvSpPr>
          <p:cNvPr id="30" name="Text 28"/>
          <p:cNvSpPr/>
          <p:nvPr/>
        </p:nvSpPr>
        <p:spPr>
          <a:xfrm>
            <a:off x="868680" y="5541264"/>
            <a:ext cx="22860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Baseline parameters</a:t>
            </a:r>
            <a:endParaRPr lang="en-US" sz="950" dirty="0"/>
          </a:p>
        </p:txBody>
      </p:sp>
      <p:sp>
        <p:nvSpPr>
          <p:cNvPr id="31" name="Shape 29"/>
          <p:cNvSpPr/>
          <p:nvPr/>
        </p:nvSpPr>
        <p:spPr>
          <a:xfrm>
            <a:off x="868680" y="5815584"/>
            <a:ext cx="1005840" cy="0"/>
          </a:xfrm>
          <a:prstGeom prst="line">
            <a:avLst/>
          </a:prstGeom>
          <a:noFill/>
          <a:ln w="20320">
            <a:solidFill>
              <a:srgbClr val="7DD181"/>
            </a:solidFill>
            <a:prstDash val="solid"/>
          </a:ln>
        </p:spPr>
        <p:txBody>
          <a:bodyPr/>
          <a:lstStyle/>
          <a:p>
            <a:endParaRPr lang="en-US"/>
          </a:p>
        </p:txBody>
      </p:sp>
      <p:sp>
        <p:nvSpPr>
          <p:cNvPr id="32" name="Text 30"/>
          <p:cNvSpPr/>
          <p:nvPr/>
        </p:nvSpPr>
        <p:spPr>
          <a:xfrm>
            <a:off x="3429000" y="5102352"/>
            <a:ext cx="22860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0.7256</a:t>
            </a:r>
            <a:endParaRPr lang="en-US" sz="2500" dirty="0"/>
          </a:p>
        </p:txBody>
      </p:sp>
      <p:sp>
        <p:nvSpPr>
          <p:cNvPr id="33" name="Text 31"/>
          <p:cNvSpPr/>
          <p:nvPr/>
        </p:nvSpPr>
        <p:spPr>
          <a:xfrm>
            <a:off x="3429000" y="5541264"/>
            <a:ext cx="22860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Best validation accuracy</a:t>
            </a:r>
            <a:endParaRPr lang="en-US" sz="950" dirty="0"/>
          </a:p>
        </p:txBody>
      </p:sp>
      <p:sp>
        <p:nvSpPr>
          <p:cNvPr id="34" name="Shape 32"/>
          <p:cNvSpPr/>
          <p:nvPr/>
        </p:nvSpPr>
        <p:spPr>
          <a:xfrm>
            <a:off x="3429000" y="5815584"/>
            <a:ext cx="1005840" cy="0"/>
          </a:xfrm>
          <a:prstGeom prst="line">
            <a:avLst/>
          </a:prstGeom>
          <a:noFill/>
          <a:ln w="20320">
            <a:solidFill>
              <a:srgbClr val="37D6E5"/>
            </a:solidFill>
            <a:prstDash val="solid"/>
          </a:ln>
        </p:spPr>
        <p:txBody>
          <a:bodyPr/>
          <a:lstStyle/>
          <a:p>
            <a:endParaRPr lang="en-US"/>
          </a:p>
        </p:txBody>
      </p:sp>
      <p:sp>
        <p:nvSpPr>
          <p:cNvPr id="35" name="Text 33"/>
          <p:cNvSpPr/>
          <p:nvPr/>
        </p:nvSpPr>
        <p:spPr>
          <a:xfrm>
            <a:off x="6172200" y="5102352"/>
            <a:ext cx="201168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0.7117</a:t>
            </a:r>
            <a:endParaRPr lang="en-US" sz="2500" dirty="0"/>
          </a:p>
        </p:txBody>
      </p:sp>
      <p:sp>
        <p:nvSpPr>
          <p:cNvPr id="36" name="Text 34"/>
          <p:cNvSpPr/>
          <p:nvPr/>
        </p:nvSpPr>
        <p:spPr>
          <a:xfrm>
            <a:off x="6172200" y="5541264"/>
            <a:ext cx="201168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Test accuracy</a:t>
            </a:r>
            <a:endParaRPr lang="en-US" sz="950" dirty="0"/>
          </a:p>
        </p:txBody>
      </p:sp>
      <p:sp>
        <p:nvSpPr>
          <p:cNvPr id="37" name="Shape 35"/>
          <p:cNvSpPr/>
          <p:nvPr/>
        </p:nvSpPr>
        <p:spPr>
          <a:xfrm>
            <a:off x="6172200" y="5815584"/>
            <a:ext cx="1005840" cy="0"/>
          </a:xfrm>
          <a:prstGeom prst="line">
            <a:avLst/>
          </a:prstGeom>
          <a:noFill/>
          <a:ln w="20320">
            <a:solidFill>
              <a:srgbClr val="4F8BFF"/>
            </a:solidFill>
            <a:prstDash val="solid"/>
          </a:ln>
        </p:spPr>
        <p:txBody>
          <a:bodyPr/>
          <a:lstStyle/>
          <a:p>
            <a:endParaRPr lang="en-US"/>
          </a:p>
        </p:txBody>
      </p:sp>
      <p:sp>
        <p:nvSpPr>
          <p:cNvPr id="39" name="Text 36"/>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40" name="Text 37"/>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305" y="73152"/>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Training strategy</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CrossEntropyLoss, Adam optimizer and early stopping</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67512" y="1216152"/>
            <a:ext cx="5202936" cy="2642616"/>
          </a:xfrm>
          <a:prstGeom prst="roundRect">
            <a:avLst>
              <a:gd name="adj" fmla="val 2768"/>
            </a:avLst>
          </a:prstGeom>
          <a:solidFill>
            <a:srgbClr val="0E2037"/>
          </a:solidFill>
          <a:ln w="8890">
            <a:solidFill>
              <a:srgbClr val="23374F"/>
            </a:solidFill>
            <a:prstDash val="solid"/>
          </a:ln>
        </p:spPr>
        <p:txBody>
          <a:bodyPr/>
          <a:lstStyle/>
          <a:p>
            <a:endParaRPr lang="en-US"/>
          </a:p>
        </p:txBody>
      </p:sp>
      <p:pic>
        <p:nvPicPr>
          <p:cNvPr id="10" name="Image 0" descr="/mnt/data/extracted_report_images/p36_img2.png"/>
          <p:cNvPicPr>
            <a:picLocks noChangeAspect="1"/>
          </p:cNvPicPr>
          <p:nvPr/>
        </p:nvPicPr>
        <p:blipFill>
          <a:blip r:embed="rId3"/>
          <a:stretch>
            <a:fillRect/>
          </a:stretch>
        </p:blipFill>
        <p:spPr>
          <a:xfrm>
            <a:off x="1134112" y="1234440"/>
            <a:ext cx="4269736" cy="2606040"/>
          </a:xfrm>
          <a:prstGeom prst="rect">
            <a:avLst/>
          </a:prstGeom>
        </p:spPr>
      </p:pic>
      <p:sp>
        <p:nvSpPr>
          <p:cNvPr id="11" name="Shape 8"/>
          <p:cNvSpPr/>
          <p:nvPr/>
        </p:nvSpPr>
        <p:spPr>
          <a:xfrm>
            <a:off x="6291072" y="1216152"/>
            <a:ext cx="5202936" cy="2642616"/>
          </a:xfrm>
          <a:prstGeom prst="roundRect">
            <a:avLst>
              <a:gd name="adj" fmla="val 2768"/>
            </a:avLst>
          </a:prstGeom>
          <a:solidFill>
            <a:srgbClr val="0E2037"/>
          </a:solidFill>
          <a:ln w="8890">
            <a:solidFill>
              <a:srgbClr val="23374F"/>
            </a:solidFill>
            <a:prstDash val="solid"/>
          </a:ln>
        </p:spPr>
        <p:txBody>
          <a:bodyPr/>
          <a:lstStyle/>
          <a:p>
            <a:endParaRPr lang="en-US"/>
          </a:p>
        </p:txBody>
      </p:sp>
      <p:pic>
        <p:nvPicPr>
          <p:cNvPr id="12" name="Image 1" descr="/mnt/data/extracted_report_images/p38_img1.png"/>
          <p:cNvPicPr>
            <a:picLocks noChangeAspect="1"/>
          </p:cNvPicPr>
          <p:nvPr/>
        </p:nvPicPr>
        <p:blipFill>
          <a:blip r:embed="rId4"/>
          <a:stretch>
            <a:fillRect/>
          </a:stretch>
        </p:blipFill>
        <p:spPr>
          <a:xfrm>
            <a:off x="6731742" y="1234440"/>
            <a:ext cx="4321595" cy="2606040"/>
          </a:xfrm>
          <a:prstGeom prst="rect">
            <a:avLst/>
          </a:prstGeom>
        </p:spPr>
      </p:pic>
      <p:sp>
        <p:nvSpPr>
          <p:cNvPr id="13" name="Shape 9"/>
          <p:cNvSpPr/>
          <p:nvPr/>
        </p:nvSpPr>
        <p:spPr>
          <a:xfrm>
            <a:off x="822960" y="4343399"/>
            <a:ext cx="3755372" cy="1399031"/>
          </a:xfrm>
          <a:prstGeom prst="roundRect">
            <a:avLst>
              <a:gd name="adj" fmla="val 9600"/>
            </a:avLst>
          </a:prstGeom>
          <a:solidFill>
            <a:srgbClr val="0D1F36"/>
          </a:solidFill>
          <a:ln w="11430">
            <a:solidFill>
              <a:srgbClr val="37D6E5">
                <a:alpha val="75000"/>
              </a:srgbClr>
            </a:solidFill>
            <a:prstDash val="solid"/>
          </a:ln>
        </p:spPr>
        <p:txBody>
          <a:bodyPr/>
          <a:lstStyle/>
          <a:p>
            <a:endParaRPr lang="en-US"/>
          </a:p>
        </p:txBody>
      </p:sp>
      <p:sp>
        <p:nvSpPr>
          <p:cNvPr id="14" name="Text 10"/>
          <p:cNvSpPr/>
          <p:nvPr/>
        </p:nvSpPr>
        <p:spPr>
          <a:xfrm>
            <a:off x="987552" y="4471416"/>
            <a:ext cx="3328416" cy="228600"/>
          </a:xfrm>
          <a:prstGeom prst="rect">
            <a:avLst/>
          </a:prstGeom>
          <a:noFill/>
          <a:ln/>
        </p:spPr>
        <p:txBody>
          <a:bodyPr wrap="square" lIns="0" tIns="0" rIns="0" bIns="0" rtlCol="0" anchor="ctr"/>
          <a:lstStyle/>
          <a:p>
            <a:pPr marL="0" indent="0">
              <a:buNone/>
            </a:pPr>
            <a:r>
              <a:rPr lang="en-US" sz="1350" b="1" dirty="0">
                <a:solidFill>
                  <a:srgbClr val="37D6E5"/>
                </a:solidFill>
              </a:rPr>
              <a:t>Training loop</a:t>
            </a:r>
            <a:endParaRPr lang="en-US" sz="1350" dirty="0"/>
          </a:p>
        </p:txBody>
      </p:sp>
      <p:sp>
        <p:nvSpPr>
          <p:cNvPr id="15" name="Text 11"/>
          <p:cNvSpPr/>
          <p:nvPr/>
        </p:nvSpPr>
        <p:spPr>
          <a:xfrm>
            <a:off x="987552" y="4782312"/>
            <a:ext cx="3328416" cy="594360"/>
          </a:xfrm>
          <a:prstGeom prst="rect">
            <a:avLst/>
          </a:prstGeom>
          <a:noFill/>
          <a:ln/>
        </p:spPr>
        <p:txBody>
          <a:bodyPr wrap="square" lIns="0" tIns="0" rIns="0" bIns="0" rtlCol="0" anchor="t">
            <a:normAutofit fontScale="77500" lnSpcReduction="20000"/>
          </a:bodyPr>
          <a:lstStyle/>
          <a:p>
            <a:pPr marL="0" indent="0">
              <a:buNone/>
            </a:pPr>
            <a:r>
              <a:rPr lang="en-US" sz="1220" dirty="0">
                <a:solidFill>
                  <a:srgbClr val="B8C6D8"/>
                </a:solidFill>
              </a:rPr>
              <a:t>1. Forward pass over full graph</a:t>
            </a:r>
            <a:endParaRPr lang="en-US" sz="1220" dirty="0"/>
          </a:p>
          <a:p>
            <a:pPr marL="0" indent="0">
              <a:buNone/>
            </a:pPr>
            <a:r>
              <a:rPr lang="en-US" sz="1220" dirty="0">
                <a:solidFill>
                  <a:srgbClr val="B8C6D8"/>
                </a:solidFill>
              </a:rPr>
              <a:t>2. Loss on training nodes only</a:t>
            </a:r>
            <a:endParaRPr lang="en-US" sz="1220" dirty="0"/>
          </a:p>
          <a:p>
            <a:pPr marL="0" indent="0">
              <a:buNone/>
            </a:pPr>
            <a:r>
              <a:rPr lang="en-US" sz="1220" dirty="0">
                <a:solidFill>
                  <a:srgbClr val="B8C6D8"/>
                </a:solidFill>
              </a:rPr>
              <a:t>3. Backpropagation</a:t>
            </a:r>
            <a:endParaRPr lang="en-US" sz="1220" dirty="0"/>
          </a:p>
          <a:p>
            <a:pPr marL="0" indent="0">
              <a:buNone/>
            </a:pPr>
            <a:r>
              <a:rPr lang="en-US" sz="1220" dirty="0">
                <a:solidFill>
                  <a:srgbClr val="B8C6D8"/>
                </a:solidFill>
              </a:rPr>
              <a:t>4. Adam optimizer update</a:t>
            </a:r>
            <a:endParaRPr lang="en-US" sz="1220" dirty="0"/>
          </a:p>
          <a:p>
            <a:pPr marL="0" indent="0">
              <a:buNone/>
            </a:pPr>
            <a:r>
              <a:rPr lang="en-US" sz="1220" dirty="0">
                <a:solidFill>
                  <a:srgbClr val="B8C6D8"/>
                </a:solidFill>
              </a:rPr>
              <a:t>5. Validation monitoring</a:t>
            </a:r>
            <a:endParaRPr lang="en-US" sz="1220" dirty="0"/>
          </a:p>
        </p:txBody>
      </p:sp>
      <p:sp>
        <p:nvSpPr>
          <p:cNvPr id="16" name="Shape 12"/>
          <p:cNvSpPr/>
          <p:nvPr/>
        </p:nvSpPr>
        <p:spPr>
          <a:xfrm>
            <a:off x="4777740" y="4401771"/>
            <a:ext cx="3515868" cy="1340660"/>
          </a:xfrm>
          <a:prstGeom prst="roundRect">
            <a:avLst>
              <a:gd name="adj" fmla="val 9600"/>
            </a:avLst>
          </a:prstGeom>
          <a:solidFill>
            <a:srgbClr val="0D1F36"/>
          </a:solidFill>
          <a:ln w="11430">
            <a:solidFill>
              <a:srgbClr val="FFB703">
                <a:alpha val="75000"/>
              </a:srgbClr>
            </a:solidFill>
            <a:prstDash val="solid"/>
          </a:ln>
        </p:spPr>
        <p:txBody>
          <a:bodyPr/>
          <a:lstStyle/>
          <a:p>
            <a:endParaRPr lang="en-US"/>
          </a:p>
        </p:txBody>
      </p:sp>
      <p:sp>
        <p:nvSpPr>
          <p:cNvPr id="17" name="Text 13"/>
          <p:cNvSpPr/>
          <p:nvPr/>
        </p:nvSpPr>
        <p:spPr>
          <a:xfrm>
            <a:off x="4919472" y="4471416"/>
            <a:ext cx="3054096" cy="228600"/>
          </a:xfrm>
          <a:prstGeom prst="rect">
            <a:avLst/>
          </a:prstGeom>
          <a:noFill/>
          <a:ln/>
        </p:spPr>
        <p:txBody>
          <a:bodyPr wrap="square" lIns="0" tIns="0" rIns="0" bIns="0" rtlCol="0" anchor="ctr"/>
          <a:lstStyle/>
          <a:p>
            <a:pPr marL="0" indent="0">
              <a:buNone/>
            </a:pPr>
            <a:r>
              <a:rPr lang="en-US" sz="1350" b="1" dirty="0">
                <a:solidFill>
                  <a:srgbClr val="FFB703"/>
                </a:solidFill>
              </a:rPr>
              <a:t>Optimization controls</a:t>
            </a:r>
            <a:endParaRPr lang="en-US" sz="1350" dirty="0"/>
          </a:p>
        </p:txBody>
      </p:sp>
      <p:sp>
        <p:nvSpPr>
          <p:cNvPr id="18" name="Text 14"/>
          <p:cNvSpPr/>
          <p:nvPr/>
        </p:nvSpPr>
        <p:spPr>
          <a:xfrm>
            <a:off x="4919472" y="4782312"/>
            <a:ext cx="3054096" cy="594360"/>
          </a:xfrm>
          <a:prstGeom prst="rect">
            <a:avLst/>
          </a:prstGeom>
          <a:noFill/>
          <a:ln/>
        </p:spPr>
        <p:txBody>
          <a:bodyPr wrap="square" lIns="0" tIns="0" rIns="0" bIns="0" rtlCol="0" anchor="t">
            <a:normAutofit fontScale="77500" lnSpcReduction="20000"/>
          </a:bodyPr>
          <a:lstStyle/>
          <a:p>
            <a:pPr marL="0" indent="0">
              <a:buNone/>
            </a:pPr>
            <a:r>
              <a:rPr lang="en-US" sz="1220" dirty="0">
                <a:solidFill>
                  <a:srgbClr val="B8C6D8"/>
                </a:solidFill>
              </a:rPr>
              <a:t>Loss: CrossEntropyLoss</a:t>
            </a:r>
            <a:endParaRPr lang="en-US" sz="1220" dirty="0"/>
          </a:p>
          <a:p>
            <a:pPr marL="0" indent="0">
              <a:buNone/>
            </a:pPr>
            <a:r>
              <a:rPr lang="en-US" sz="1220" dirty="0">
                <a:solidFill>
                  <a:srgbClr val="B8C6D8"/>
                </a:solidFill>
              </a:rPr>
              <a:t>Optimizer: Adam</a:t>
            </a:r>
            <a:endParaRPr lang="en-US" sz="1220" dirty="0"/>
          </a:p>
          <a:p>
            <a:pPr marL="0" indent="0">
              <a:buNone/>
            </a:pPr>
            <a:r>
              <a:rPr lang="en-US" sz="1220" dirty="0">
                <a:solidFill>
                  <a:srgbClr val="B8C6D8"/>
                </a:solidFill>
              </a:rPr>
              <a:t>Weight decay: 0.0005</a:t>
            </a:r>
            <a:endParaRPr lang="en-US" sz="1220" dirty="0"/>
          </a:p>
          <a:p>
            <a:pPr marL="0" indent="0">
              <a:buNone/>
            </a:pPr>
            <a:r>
              <a:rPr lang="en-US" sz="1220" dirty="0">
                <a:solidFill>
                  <a:srgbClr val="B8C6D8"/>
                </a:solidFill>
              </a:rPr>
              <a:t>Max epochs: 200</a:t>
            </a:r>
            <a:endParaRPr lang="en-US" sz="1220" dirty="0"/>
          </a:p>
          <a:p>
            <a:pPr marL="0" indent="0">
              <a:buNone/>
            </a:pPr>
            <a:r>
              <a:rPr lang="en-US" sz="1220" dirty="0">
                <a:solidFill>
                  <a:srgbClr val="B8C6D8"/>
                </a:solidFill>
              </a:rPr>
              <a:t>Early stopping patience: 30</a:t>
            </a:r>
            <a:endParaRPr lang="en-US" sz="1220" dirty="0"/>
          </a:p>
        </p:txBody>
      </p:sp>
      <p:sp>
        <p:nvSpPr>
          <p:cNvPr id="19" name="Shape 15"/>
          <p:cNvSpPr/>
          <p:nvPr/>
        </p:nvSpPr>
        <p:spPr>
          <a:xfrm>
            <a:off x="8458199" y="4343399"/>
            <a:ext cx="2595137" cy="1399031"/>
          </a:xfrm>
          <a:prstGeom prst="roundRect">
            <a:avLst>
              <a:gd name="adj" fmla="val 9600"/>
            </a:avLst>
          </a:prstGeom>
          <a:solidFill>
            <a:srgbClr val="0D1F36"/>
          </a:solidFill>
          <a:ln w="11430">
            <a:solidFill>
              <a:srgbClr val="7DD181">
                <a:alpha val="75000"/>
              </a:srgbClr>
            </a:solidFill>
            <a:prstDash val="solid"/>
          </a:ln>
        </p:spPr>
        <p:txBody>
          <a:bodyPr/>
          <a:lstStyle/>
          <a:p>
            <a:endParaRPr lang="en-US"/>
          </a:p>
        </p:txBody>
      </p:sp>
      <p:sp>
        <p:nvSpPr>
          <p:cNvPr id="20" name="Text 16"/>
          <p:cNvSpPr/>
          <p:nvPr/>
        </p:nvSpPr>
        <p:spPr>
          <a:xfrm>
            <a:off x="8622792" y="4471416"/>
            <a:ext cx="2231136" cy="228600"/>
          </a:xfrm>
          <a:prstGeom prst="rect">
            <a:avLst/>
          </a:prstGeom>
          <a:noFill/>
          <a:ln/>
        </p:spPr>
        <p:txBody>
          <a:bodyPr wrap="square" lIns="0" tIns="0" rIns="0" bIns="0" rtlCol="0" anchor="ctr"/>
          <a:lstStyle/>
          <a:p>
            <a:pPr marL="0" indent="0">
              <a:buNone/>
            </a:pPr>
            <a:r>
              <a:rPr lang="en-US" sz="1350" b="1" dirty="0">
                <a:solidFill>
                  <a:srgbClr val="7DD181"/>
                </a:solidFill>
              </a:rPr>
              <a:t>No test leakage</a:t>
            </a:r>
            <a:endParaRPr lang="en-US" sz="1350" dirty="0"/>
          </a:p>
        </p:txBody>
      </p:sp>
      <p:sp>
        <p:nvSpPr>
          <p:cNvPr id="21" name="Text 17"/>
          <p:cNvSpPr/>
          <p:nvPr/>
        </p:nvSpPr>
        <p:spPr>
          <a:xfrm>
            <a:off x="8622792" y="4782312"/>
            <a:ext cx="2231136" cy="594360"/>
          </a:xfrm>
          <a:prstGeom prst="rect">
            <a:avLst/>
          </a:prstGeom>
          <a:noFill/>
          <a:ln/>
        </p:spPr>
        <p:txBody>
          <a:bodyPr wrap="square" lIns="0" tIns="0" rIns="0" bIns="0" rtlCol="0" anchor="t">
            <a:normAutofit fontScale="92500"/>
          </a:bodyPr>
          <a:lstStyle/>
          <a:p>
            <a:pPr marL="0" indent="0">
              <a:buNone/>
            </a:pPr>
            <a:r>
              <a:rPr lang="en-US" sz="1220" dirty="0">
                <a:solidFill>
                  <a:srgbClr val="B8C6D8"/>
                </a:solidFill>
              </a:rPr>
              <a:t>The test set was not used for hyperparameter selection. It was reserved for final model evaluation.</a:t>
            </a:r>
            <a:endParaRPr lang="en-US" sz="1220" dirty="0"/>
          </a:p>
        </p:txBody>
      </p:sp>
      <p:sp>
        <p:nvSpPr>
          <p:cNvPr id="23" name="Text 18"/>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24" name="Text 19"/>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Hyperparameter optimization</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Model capacity, depth, dropout and learning rate were compared</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67512" y="1261872"/>
            <a:ext cx="5751576" cy="3008376"/>
          </a:xfrm>
          <a:prstGeom prst="roundRect">
            <a:avLst>
              <a:gd name="adj" fmla="val 2432"/>
            </a:avLst>
          </a:prstGeom>
          <a:solidFill>
            <a:srgbClr val="0E2037"/>
          </a:solidFill>
          <a:ln w="8890">
            <a:solidFill>
              <a:srgbClr val="23374F"/>
            </a:solidFill>
            <a:prstDash val="solid"/>
          </a:ln>
        </p:spPr>
        <p:txBody>
          <a:bodyPr/>
          <a:lstStyle/>
          <a:p>
            <a:endParaRPr lang="en-US"/>
          </a:p>
        </p:txBody>
      </p:sp>
      <p:pic>
        <p:nvPicPr>
          <p:cNvPr id="10" name="Image 0" descr="/mnt/data/extracted_report_images/p40_img1.png"/>
          <p:cNvPicPr>
            <a:picLocks noChangeAspect="1"/>
          </p:cNvPicPr>
          <p:nvPr/>
        </p:nvPicPr>
        <p:blipFill>
          <a:blip r:embed="rId3"/>
          <a:stretch>
            <a:fillRect/>
          </a:stretch>
        </p:blipFill>
        <p:spPr>
          <a:xfrm>
            <a:off x="1042788" y="1280160"/>
            <a:ext cx="5001024" cy="2971800"/>
          </a:xfrm>
          <a:prstGeom prst="rect">
            <a:avLst/>
          </a:prstGeom>
        </p:spPr>
      </p:pic>
      <p:sp>
        <p:nvSpPr>
          <p:cNvPr id="11" name="Shape 8"/>
          <p:cNvSpPr/>
          <p:nvPr/>
        </p:nvSpPr>
        <p:spPr>
          <a:xfrm>
            <a:off x="6720840" y="1417320"/>
            <a:ext cx="685800" cy="347472"/>
          </a:xfrm>
          <a:prstGeom prst="rect">
            <a:avLst/>
          </a:prstGeom>
          <a:solidFill>
            <a:srgbClr val="122A47"/>
          </a:solidFill>
          <a:ln w="5715">
            <a:solidFill>
              <a:srgbClr val="23374F"/>
            </a:solidFill>
            <a:prstDash val="solid"/>
          </a:ln>
        </p:spPr>
        <p:txBody>
          <a:bodyPr/>
          <a:lstStyle/>
          <a:p>
            <a:endParaRPr lang="en-US"/>
          </a:p>
        </p:txBody>
      </p:sp>
      <p:sp>
        <p:nvSpPr>
          <p:cNvPr id="12" name="Text 9"/>
          <p:cNvSpPr/>
          <p:nvPr/>
        </p:nvSpPr>
        <p:spPr>
          <a:xfrm>
            <a:off x="6775704" y="1472184"/>
            <a:ext cx="576072" cy="237744"/>
          </a:xfrm>
          <a:prstGeom prst="rect">
            <a:avLst/>
          </a:prstGeom>
          <a:noFill/>
          <a:ln/>
        </p:spPr>
        <p:txBody>
          <a:bodyPr wrap="square" lIns="0" tIns="0" rIns="0" bIns="0" rtlCol="0" anchor="ctr">
            <a:normAutofit/>
          </a:bodyPr>
          <a:lstStyle/>
          <a:p>
            <a:pPr marL="0" indent="0">
              <a:buNone/>
            </a:pPr>
            <a:r>
              <a:rPr lang="en-US" sz="980" b="1" dirty="0">
                <a:solidFill>
                  <a:srgbClr val="8DEDF4"/>
                </a:solidFill>
                <a:latin typeface="Calibri" pitchFamily="34" charset="0"/>
                <a:ea typeface="Calibri" pitchFamily="34" charset="-122"/>
                <a:cs typeface="Calibri" pitchFamily="34" charset="-120"/>
              </a:rPr>
              <a:t>Trial</a:t>
            </a:r>
            <a:endParaRPr lang="en-US" sz="980" dirty="0"/>
          </a:p>
        </p:txBody>
      </p:sp>
      <p:sp>
        <p:nvSpPr>
          <p:cNvPr id="13" name="Shape 10"/>
          <p:cNvSpPr/>
          <p:nvPr/>
        </p:nvSpPr>
        <p:spPr>
          <a:xfrm>
            <a:off x="7406640" y="1417320"/>
            <a:ext cx="960120" cy="347472"/>
          </a:xfrm>
          <a:prstGeom prst="rect">
            <a:avLst/>
          </a:prstGeom>
          <a:solidFill>
            <a:srgbClr val="122A47"/>
          </a:solidFill>
          <a:ln w="5715">
            <a:solidFill>
              <a:srgbClr val="23374F"/>
            </a:solidFill>
            <a:prstDash val="solid"/>
          </a:ln>
        </p:spPr>
        <p:txBody>
          <a:bodyPr/>
          <a:lstStyle/>
          <a:p>
            <a:endParaRPr lang="en-US"/>
          </a:p>
        </p:txBody>
      </p:sp>
      <p:sp>
        <p:nvSpPr>
          <p:cNvPr id="14" name="Text 11"/>
          <p:cNvSpPr/>
          <p:nvPr/>
        </p:nvSpPr>
        <p:spPr>
          <a:xfrm>
            <a:off x="7461504" y="1472184"/>
            <a:ext cx="850392" cy="237744"/>
          </a:xfrm>
          <a:prstGeom prst="rect">
            <a:avLst/>
          </a:prstGeom>
          <a:noFill/>
          <a:ln/>
        </p:spPr>
        <p:txBody>
          <a:bodyPr wrap="square" lIns="0" tIns="0" rIns="0" bIns="0" rtlCol="0" anchor="ctr">
            <a:normAutofit/>
          </a:bodyPr>
          <a:lstStyle/>
          <a:p>
            <a:pPr marL="0" indent="0">
              <a:buNone/>
            </a:pPr>
            <a:r>
              <a:rPr lang="en-US" sz="980" b="1" dirty="0">
                <a:solidFill>
                  <a:srgbClr val="8DEDF4"/>
                </a:solidFill>
                <a:latin typeface="Calibri" pitchFamily="34" charset="0"/>
                <a:ea typeface="Calibri" pitchFamily="34" charset="-122"/>
                <a:cs typeface="Calibri" pitchFamily="34" charset="-120"/>
              </a:rPr>
              <a:t>Hidden</a:t>
            </a:r>
            <a:endParaRPr lang="en-US" sz="980" dirty="0"/>
          </a:p>
        </p:txBody>
      </p:sp>
      <p:sp>
        <p:nvSpPr>
          <p:cNvPr id="15" name="Shape 12"/>
          <p:cNvSpPr/>
          <p:nvPr/>
        </p:nvSpPr>
        <p:spPr>
          <a:xfrm>
            <a:off x="8366760" y="1417320"/>
            <a:ext cx="914400" cy="347472"/>
          </a:xfrm>
          <a:prstGeom prst="rect">
            <a:avLst/>
          </a:prstGeom>
          <a:solidFill>
            <a:srgbClr val="122A47"/>
          </a:solidFill>
          <a:ln w="5715">
            <a:solidFill>
              <a:srgbClr val="23374F"/>
            </a:solidFill>
            <a:prstDash val="solid"/>
          </a:ln>
        </p:spPr>
        <p:txBody>
          <a:bodyPr/>
          <a:lstStyle/>
          <a:p>
            <a:endParaRPr lang="en-US"/>
          </a:p>
        </p:txBody>
      </p:sp>
      <p:sp>
        <p:nvSpPr>
          <p:cNvPr id="16" name="Text 13"/>
          <p:cNvSpPr/>
          <p:nvPr/>
        </p:nvSpPr>
        <p:spPr>
          <a:xfrm>
            <a:off x="8421624" y="1472184"/>
            <a:ext cx="804672" cy="237744"/>
          </a:xfrm>
          <a:prstGeom prst="rect">
            <a:avLst/>
          </a:prstGeom>
          <a:noFill/>
          <a:ln/>
        </p:spPr>
        <p:txBody>
          <a:bodyPr wrap="square" lIns="0" tIns="0" rIns="0" bIns="0" rtlCol="0" anchor="ctr">
            <a:normAutofit/>
          </a:bodyPr>
          <a:lstStyle/>
          <a:p>
            <a:pPr marL="0" indent="0">
              <a:buNone/>
            </a:pPr>
            <a:r>
              <a:rPr lang="en-US" sz="980" b="1" dirty="0">
                <a:solidFill>
                  <a:srgbClr val="8DEDF4"/>
                </a:solidFill>
                <a:latin typeface="Calibri" pitchFamily="34" charset="0"/>
                <a:ea typeface="Calibri" pitchFamily="34" charset="-122"/>
                <a:cs typeface="Calibri" pitchFamily="34" charset="-120"/>
              </a:rPr>
              <a:t>Layers</a:t>
            </a:r>
            <a:endParaRPr lang="en-US" sz="980" dirty="0"/>
          </a:p>
        </p:txBody>
      </p:sp>
      <p:sp>
        <p:nvSpPr>
          <p:cNvPr id="17" name="Shape 14"/>
          <p:cNvSpPr/>
          <p:nvPr/>
        </p:nvSpPr>
        <p:spPr>
          <a:xfrm>
            <a:off x="9281160" y="1417320"/>
            <a:ext cx="960120" cy="347472"/>
          </a:xfrm>
          <a:prstGeom prst="rect">
            <a:avLst/>
          </a:prstGeom>
          <a:solidFill>
            <a:srgbClr val="122A47"/>
          </a:solidFill>
          <a:ln w="5715">
            <a:solidFill>
              <a:srgbClr val="23374F"/>
            </a:solidFill>
            <a:prstDash val="solid"/>
          </a:ln>
        </p:spPr>
        <p:txBody>
          <a:bodyPr/>
          <a:lstStyle/>
          <a:p>
            <a:endParaRPr lang="en-US"/>
          </a:p>
        </p:txBody>
      </p:sp>
      <p:sp>
        <p:nvSpPr>
          <p:cNvPr id="18" name="Text 15"/>
          <p:cNvSpPr/>
          <p:nvPr/>
        </p:nvSpPr>
        <p:spPr>
          <a:xfrm>
            <a:off x="9336024" y="1472184"/>
            <a:ext cx="850392" cy="237744"/>
          </a:xfrm>
          <a:prstGeom prst="rect">
            <a:avLst/>
          </a:prstGeom>
          <a:noFill/>
          <a:ln/>
        </p:spPr>
        <p:txBody>
          <a:bodyPr wrap="square" lIns="0" tIns="0" rIns="0" bIns="0" rtlCol="0" anchor="ctr">
            <a:normAutofit/>
          </a:bodyPr>
          <a:lstStyle/>
          <a:p>
            <a:pPr marL="0" indent="0">
              <a:buNone/>
            </a:pPr>
            <a:r>
              <a:rPr lang="en-US" sz="980" b="1" dirty="0">
                <a:solidFill>
                  <a:srgbClr val="8DEDF4"/>
                </a:solidFill>
                <a:latin typeface="Calibri" pitchFamily="34" charset="0"/>
                <a:ea typeface="Calibri" pitchFamily="34" charset="-122"/>
                <a:cs typeface="Calibri" pitchFamily="34" charset="-120"/>
              </a:rPr>
              <a:t>Dropout</a:t>
            </a:r>
            <a:endParaRPr lang="en-US" sz="980" dirty="0"/>
          </a:p>
        </p:txBody>
      </p:sp>
      <p:sp>
        <p:nvSpPr>
          <p:cNvPr id="19" name="Shape 16"/>
          <p:cNvSpPr/>
          <p:nvPr/>
        </p:nvSpPr>
        <p:spPr>
          <a:xfrm>
            <a:off x="10241280" y="1417320"/>
            <a:ext cx="960120" cy="347472"/>
          </a:xfrm>
          <a:prstGeom prst="rect">
            <a:avLst/>
          </a:prstGeom>
          <a:solidFill>
            <a:srgbClr val="122A47"/>
          </a:solidFill>
          <a:ln w="5715">
            <a:solidFill>
              <a:srgbClr val="23374F"/>
            </a:solidFill>
            <a:prstDash val="solid"/>
          </a:ln>
        </p:spPr>
        <p:txBody>
          <a:bodyPr/>
          <a:lstStyle/>
          <a:p>
            <a:endParaRPr lang="en-US"/>
          </a:p>
        </p:txBody>
      </p:sp>
      <p:sp>
        <p:nvSpPr>
          <p:cNvPr id="20" name="Text 17"/>
          <p:cNvSpPr/>
          <p:nvPr/>
        </p:nvSpPr>
        <p:spPr>
          <a:xfrm>
            <a:off x="10296144" y="1472184"/>
            <a:ext cx="850392" cy="237744"/>
          </a:xfrm>
          <a:prstGeom prst="rect">
            <a:avLst/>
          </a:prstGeom>
          <a:noFill/>
          <a:ln/>
        </p:spPr>
        <p:txBody>
          <a:bodyPr wrap="square" lIns="0" tIns="0" rIns="0" bIns="0" rtlCol="0" anchor="ctr">
            <a:normAutofit/>
          </a:bodyPr>
          <a:lstStyle/>
          <a:p>
            <a:pPr marL="0" indent="0">
              <a:buNone/>
            </a:pPr>
            <a:r>
              <a:rPr lang="en-US" sz="980" b="1" dirty="0">
                <a:solidFill>
                  <a:srgbClr val="8DEDF4"/>
                </a:solidFill>
                <a:latin typeface="Calibri" pitchFamily="34" charset="0"/>
                <a:ea typeface="Calibri" pitchFamily="34" charset="-122"/>
                <a:cs typeface="Calibri" pitchFamily="34" charset="-120"/>
              </a:rPr>
              <a:t>LR</a:t>
            </a:r>
            <a:endParaRPr lang="en-US" sz="980" dirty="0"/>
          </a:p>
        </p:txBody>
      </p:sp>
      <p:sp>
        <p:nvSpPr>
          <p:cNvPr id="21" name="Shape 18"/>
          <p:cNvSpPr/>
          <p:nvPr/>
        </p:nvSpPr>
        <p:spPr>
          <a:xfrm>
            <a:off x="6720840" y="1764792"/>
            <a:ext cx="685800" cy="347472"/>
          </a:xfrm>
          <a:prstGeom prst="rect">
            <a:avLst/>
          </a:prstGeom>
          <a:solidFill>
            <a:srgbClr val="0D1F36"/>
          </a:solidFill>
          <a:ln w="5715">
            <a:solidFill>
              <a:srgbClr val="23374F"/>
            </a:solidFill>
            <a:prstDash val="solid"/>
          </a:ln>
        </p:spPr>
        <p:txBody>
          <a:bodyPr/>
          <a:lstStyle/>
          <a:p>
            <a:endParaRPr lang="en-US"/>
          </a:p>
        </p:txBody>
      </p:sp>
      <p:sp>
        <p:nvSpPr>
          <p:cNvPr id="22" name="Text 19"/>
          <p:cNvSpPr/>
          <p:nvPr/>
        </p:nvSpPr>
        <p:spPr>
          <a:xfrm>
            <a:off x="6775704" y="1819656"/>
            <a:ext cx="5760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1</a:t>
            </a:r>
            <a:endParaRPr lang="en-US" sz="980" dirty="0"/>
          </a:p>
        </p:txBody>
      </p:sp>
      <p:sp>
        <p:nvSpPr>
          <p:cNvPr id="23" name="Shape 20"/>
          <p:cNvSpPr/>
          <p:nvPr/>
        </p:nvSpPr>
        <p:spPr>
          <a:xfrm>
            <a:off x="7406640" y="1764792"/>
            <a:ext cx="960120" cy="347472"/>
          </a:xfrm>
          <a:prstGeom prst="rect">
            <a:avLst/>
          </a:prstGeom>
          <a:solidFill>
            <a:srgbClr val="0D1F36"/>
          </a:solidFill>
          <a:ln w="5715">
            <a:solidFill>
              <a:srgbClr val="23374F"/>
            </a:solidFill>
            <a:prstDash val="solid"/>
          </a:ln>
        </p:spPr>
        <p:txBody>
          <a:bodyPr/>
          <a:lstStyle/>
          <a:p>
            <a:endParaRPr lang="en-US"/>
          </a:p>
        </p:txBody>
      </p:sp>
      <p:sp>
        <p:nvSpPr>
          <p:cNvPr id="24" name="Text 21"/>
          <p:cNvSpPr/>
          <p:nvPr/>
        </p:nvSpPr>
        <p:spPr>
          <a:xfrm>
            <a:off x="7461504" y="1819656"/>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64</a:t>
            </a:r>
            <a:endParaRPr lang="en-US" sz="980" dirty="0"/>
          </a:p>
        </p:txBody>
      </p:sp>
      <p:sp>
        <p:nvSpPr>
          <p:cNvPr id="25" name="Shape 22"/>
          <p:cNvSpPr/>
          <p:nvPr/>
        </p:nvSpPr>
        <p:spPr>
          <a:xfrm>
            <a:off x="8366760" y="1764792"/>
            <a:ext cx="914400" cy="347472"/>
          </a:xfrm>
          <a:prstGeom prst="rect">
            <a:avLst/>
          </a:prstGeom>
          <a:solidFill>
            <a:srgbClr val="0D1F36"/>
          </a:solidFill>
          <a:ln w="5715">
            <a:solidFill>
              <a:srgbClr val="23374F"/>
            </a:solidFill>
            <a:prstDash val="solid"/>
          </a:ln>
        </p:spPr>
        <p:txBody>
          <a:bodyPr/>
          <a:lstStyle/>
          <a:p>
            <a:endParaRPr lang="en-US"/>
          </a:p>
        </p:txBody>
      </p:sp>
      <p:sp>
        <p:nvSpPr>
          <p:cNvPr id="26" name="Text 23"/>
          <p:cNvSpPr/>
          <p:nvPr/>
        </p:nvSpPr>
        <p:spPr>
          <a:xfrm>
            <a:off x="8421624" y="1819656"/>
            <a:ext cx="8046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2</a:t>
            </a:r>
            <a:endParaRPr lang="en-US" sz="980" dirty="0"/>
          </a:p>
        </p:txBody>
      </p:sp>
      <p:sp>
        <p:nvSpPr>
          <p:cNvPr id="27" name="Shape 24"/>
          <p:cNvSpPr/>
          <p:nvPr/>
        </p:nvSpPr>
        <p:spPr>
          <a:xfrm>
            <a:off x="9281160" y="1764792"/>
            <a:ext cx="960120" cy="347472"/>
          </a:xfrm>
          <a:prstGeom prst="rect">
            <a:avLst/>
          </a:prstGeom>
          <a:solidFill>
            <a:srgbClr val="0D1F36"/>
          </a:solidFill>
          <a:ln w="5715">
            <a:solidFill>
              <a:srgbClr val="23374F"/>
            </a:solidFill>
            <a:prstDash val="solid"/>
          </a:ln>
        </p:spPr>
        <p:txBody>
          <a:bodyPr/>
          <a:lstStyle/>
          <a:p>
            <a:endParaRPr lang="en-US"/>
          </a:p>
        </p:txBody>
      </p:sp>
      <p:sp>
        <p:nvSpPr>
          <p:cNvPr id="28" name="Text 25"/>
          <p:cNvSpPr/>
          <p:nvPr/>
        </p:nvSpPr>
        <p:spPr>
          <a:xfrm>
            <a:off x="9336024" y="1819656"/>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0.3</a:t>
            </a:r>
            <a:endParaRPr lang="en-US" sz="980" dirty="0"/>
          </a:p>
        </p:txBody>
      </p:sp>
      <p:sp>
        <p:nvSpPr>
          <p:cNvPr id="29" name="Shape 26"/>
          <p:cNvSpPr/>
          <p:nvPr/>
        </p:nvSpPr>
        <p:spPr>
          <a:xfrm>
            <a:off x="10241280" y="1764792"/>
            <a:ext cx="960120" cy="347472"/>
          </a:xfrm>
          <a:prstGeom prst="rect">
            <a:avLst/>
          </a:prstGeom>
          <a:solidFill>
            <a:srgbClr val="0D1F36"/>
          </a:solidFill>
          <a:ln w="5715">
            <a:solidFill>
              <a:srgbClr val="23374F"/>
            </a:solidFill>
            <a:prstDash val="solid"/>
          </a:ln>
        </p:spPr>
        <p:txBody>
          <a:bodyPr/>
          <a:lstStyle/>
          <a:p>
            <a:endParaRPr lang="en-US"/>
          </a:p>
        </p:txBody>
      </p:sp>
      <p:sp>
        <p:nvSpPr>
          <p:cNvPr id="30" name="Text 27"/>
          <p:cNvSpPr/>
          <p:nvPr/>
        </p:nvSpPr>
        <p:spPr>
          <a:xfrm>
            <a:off x="10296144" y="1819656"/>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0.010</a:t>
            </a:r>
            <a:endParaRPr lang="en-US" sz="980" dirty="0"/>
          </a:p>
        </p:txBody>
      </p:sp>
      <p:sp>
        <p:nvSpPr>
          <p:cNvPr id="31" name="Shape 28"/>
          <p:cNvSpPr/>
          <p:nvPr/>
        </p:nvSpPr>
        <p:spPr>
          <a:xfrm>
            <a:off x="6720840" y="2112264"/>
            <a:ext cx="685800" cy="347472"/>
          </a:xfrm>
          <a:prstGeom prst="rect">
            <a:avLst/>
          </a:prstGeom>
          <a:solidFill>
            <a:srgbClr val="0D1F36"/>
          </a:solidFill>
          <a:ln w="5715">
            <a:solidFill>
              <a:srgbClr val="23374F"/>
            </a:solidFill>
            <a:prstDash val="solid"/>
          </a:ln>
        </p:spPr>
        <p:txBody>
          <a:bodyPr/>
          <a:lstStyle/>
          <a:p>
            <a:endParaRPr lang="en-US"/>
          </a:p>
        </p:txBody>
      </p:sp>
      <p:sp>
        <p:nvSpPr>
          <p:cNvPr id="32" name="Text 29"/>
          <p:cNvSpPr/>
          <p:nvPr/>
        </p:nvSpPr>
        <p:spPr>
          <a:xfrm>
            <a:off x="6775704" y="2167128"/>
            <a:ext cx="5760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2</a:t>
            </a:r>
            <a:endParaRPr lang="en-US" sz="980" dirty="0"/>
          </a:p>
        </p:txBody>
      </p:sp>
      <p:sp>
        <p:nvSpPr>
          <p:cNvPr id="33" name="Shape 30"/>
          <p:cNvSpPr/>
          <p:nvPr/>
        </p:nvSpPr>
        <p:spPr>
          <a:xfrm>
            <a:off x="7406640" y="2112264"/>
            <a:ext cx="960120" cy="347472"/>
          </a:xfrm>
          <a:prstGeom prst="rect">
            <a:avLst/>
          </a:prstGeom>
          <a:solidFill>
            <a:srgbClr val="0D1F36"/>
          </a:solidFill>
          <a:ln w="5715">
            <a:solidFill>
              <a:srgbClr val="23374F"/>
            </a:solidFill>
            <a:prstDash val="solid"/>
          </a:ln>
        </p:spPr>
        <p:txBody>
          <a:bodyPr/>
          <a:lstStyle/>
          <a:p>
            <a:endParaRPr lang="en-US"/>
          </a:p>
        </p:txBody>
      </p:sp>
      <p:sp>
        <p:nvSpPr>
          <p:cNvPr id="34" name="Text 31"/>
          <p:cNvSpPr/>
          <p:nvPr/>
        </p:nvSpPr>
        <p:spPr>
          <a:xfrm>
            <a:off x="7461504" y="2167128"/>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128</a:t>
            </a:r>
            <a:endParaRPr lang="en-US" sz="980" dirty="0"/>
          </a:p>
        </p:txBody>
      </p:sp>
      <p:sp>
        <p:nvSpPr>
          <p:cNvPr id="35" name="Shape 32"/>
          <p:cNvSpPr/>
          <p:nvPr/>
        </p:nvSpPr>
        <p:spPr>
          <a:xfrm>
            <a:off x="8366760" y="2112264"/>
            <a:ext cx="914400" cy="347472"/>
          </a:xfrm>
          <a:prstGeom prst="rect">
            <a:avLst/>
          </a:prstGeom>
          <a:solidFill>
            <a:srgbClr val="0D1F36"/>
          </a:solidFill>
          <a:ln w="5715">
            <a:solidFill>
              <a:srgbClr val="23374F"/>
            </a:solidFill>
            <a:prstDash val="solid"/>
          </a:ln>
        </p:spPr>
        <p:txBody>
          <a:bodyPr/>
          <a:lstStyle/>
          <a:p>
            <a:endParaRPr lang="en-US"/>
          </a:p>
        </p:txBody>
      </p:sp>
      <p:sp>
        <p:nvSpPr>
          <p:cNvPr id="36" name="Text 33"/>
          <p:cNvSpPr/>
          <p:nvPr/>
        </p:nvSpPr>
        <p:spPr>
          <a:xfrm>
            <a:off x="8421624" y="2167128"/>
            <a:ext cx="8046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2</a:t>
            </a:r>
            <a:endParaRPr lang="en-US" sz="980" dirty="0"/>
          </a:p>
        </p:txBody>
      </p:sp>
      <p:sp>
        <p:nvSpPr>
          <p:cNvPr id="37" name="Shape 34"/>
          <p:cNvSpPr/>
          <p:nvPr/>
        </p:nvSpPr>
        <p:spPr>
          <a:xfrm>
            <a:off x="9281160" y="2112264"/>
            <a:ext cx="960120" cy="347472"/>
          </a:xfrm>
          <a:prstGeom prst="rect">
            <a:avLst/>
          </a:prstGeom>
          <a:solidFill>
            <a:srgbClr val="0D1F36"/>
          </a:solidFill>
          <a:ln w="5715">
            <a:solidFill>
              <a:srgbClr val="23374F"/>
            </a:solidFill>
            <a:prstDash val="solid"/>
          </a:ln>
        </p:spPr>
        <p:txBody>
          <a:bodyPr/>
          <a:lstStyle/>
          <a:p>
            <a:endParaRPr lang="en-US"/>
          </a:p>
        </p:txBody>
      </p:sp>
      <p:sp>
        <p:nvSpPr>
          <p:cNvPr id="38" name="Text 35"/>
          <p:cNvSpPr/>
          <p:nvPr/>
        </p:nvSpPr>
        <p:spPr>
          <a:xfrm>
            <a:off x="9336024" y="2167128"/>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0.5</a:t>
            </a:r>
            <a:endParaRPr lang="en-US" sz="980" dirty="0"/>
          </a:p>
        </p:txBody>
      </p:sp>
      <p:sp>
        <p:nvSpPr>
          <p:cNvPr id="39" name="Shape 36"/>
          <p:cNvSpPr/>
          <p:nvPr/>
        </p:nvSpPr>
        <p:spPr>
          <a:xfrm>
            <a:off x="10241280" y="2112264"/>
            <a:ext cx="960120" cy="347472"/>
          </a:xfrm>
          <a:prstGeom prst="rect">
            <a:avLst/>
          </a:prstGeom>
          <a:solidFill>
            <a:srgbClr val="0D1F36"/>
          </a:solidFill>
          <a:ln w="5715">
            <a:solidFill>
              <a:srgbClr val="23374F"/>
            </a:solidFill>
            <a:prstDash val="solid"/>
          </a:ln>
        </p:spPr>
        <p:txBody>
          <a:bodyPr/>
          <a:lstStyle/>
          <a:p>
            <a:endParaRPr lang="en-US"/>
          </a:p>
        </p:txBody>
      </p:sp>
      <p:sp>
        <p:nvSpPr>
          <p:cNvPr id="40" name="Text 37"/>
          <p:cNvSpPr/>
          <p:nvPr/>
        </p:nvSpPr>
        <p:spPr>
          <a:xfrm>
            <a:off x="10296144" y="2167128"/>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0.010</a:t>
            </a:r>
            <a:endParaRPr lang="en-US" sz="980" dirty="0"/>
          </a:p>
        </p:txBody>
      </p:sp>
      <p:sp>
        <p:nvSpPr>
          <p:cNvPr id="41" name="Shape 38"/>
          <p:cNvSpPr/>
          <p:nvPr/>
        </p:nvSpPr>
        <p:spPr>
          <a:xfrm>
            <a:off x="6720840" y="2459736"/>
            <a:ext cx="685800" cy="347472"/>
          </a:xfrm>
          <a:prstGeom prst="rect">
            <a:avLst/>
          </a:prstGeom>
          <a:solidFill>
            <a:srgbClr val="0D1F36"/>
          </a:solidFill>
          <a:ln w="5715">
            <a:solidFill>
              <a:srgbClr val="23374F"/>
            </a:solidFill>
            <a:prstDash val="solid"/>
          </a:ln>
        </p:spPr>
        <p:txBody>
          <a:bodyPr/>
          <a:lstStyle/>
          <a:p>
            <a:endParaRPr lang="en-US"/>
          </a:p>
        </p:txBody>
      </p:sp>
      <p:sp>
        <p:nvSpPr>
          <p:cNvPr id="42" name="Text 39"/>
          <p:cNvSpPr/>
          <p:nvPr/>
        </p:nvSpPr>
        <p:spPr>
          <a:xfrm>
            <a:off x="6775704" y="2514600"/>
            <a:ext cx="5760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3</a:t>
            </a:r>
            <a:endParaRPr lang="en-US" sz="980" dirty="0"/>
          </a:p>
        </p:txBody>
      </p:sp>
      <p:sp>
        <p:nvSpPr>
          <p:cNvPr id="43" name="Shape 40"/>
          <p:cNvSpPr/>
          <p:nvPr/>
        </p:nvSpPr>
        <p:spPr>
          <a:xfrm>
            <a:off x="7406640" y="2459736"/>
            <a:ext cx="960120" cy="347472"/>
          </a:xfrm>
          <a:prstGeom prst="rect">
            <a:avLst/>
          </a:prstGeom>
          <a:solidFill>
            <a:srgbClr val="0D1F36"/>
          </a:solidFill>
          <a:ln w="5715">
            <a:solidFill>
              <a:srgbClr val="23374F"/>
            </a:solidFill>
            <a:prstDash val="solid"/>
          </a:ln>
        </p:spPr>
        <p:txBody>
          <a:bodyPr/>
          <a:lstStyle/>
          <a:p>
            <a:endParaRPr lang="en-US"/>
          </a:p>
        </p:txBody>
      </p:sp>
      <p:sp>
        <p:nvSpPr>
          <p:cNvPr id="44" name="Text 41"/>
          <p:cNvSpPr/>
          <p:nvPr/>
        </p:nvSpPr>
        <p:spPr>
          <a:xfrm>
            <a:off x="7461504" y="2514600"/>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128</a:t>
            </a:r>
            <a:endParaRPr lang="en-US" sz="980" dirty="0"/>
          </a:p>
        </p:txBody>
      </p:sp>
      <p:sp>
        <p:nvSpPr>
          <p:cNvPr id="45" name="Shape 42"/>
          <p:cNvSpPr/>
          <p:nvPr/>
        </p:nvSpPr>
        <p:spPr>
          <a:xfrm>
            <a:off x="8366760" y="2459736"/>
            <a:ext cx="914400" cy="347472"/>
          </a:xfrm>
          <a:prstGeom prst="rect">
            <a:avLst/>
          </a:prstGeom>
          <a:solidFill>
            <a:srgbClr val="0D1F36"/>
          </a:solidFill>
          <a:ln w="5715">
            <a:solidFill>
              <a:srgbClr val="23374F"/>
            </a:solidFill>
            <a:prstDash val="solid"/>
          </a:ln>
        </p:spPr>
        <p:txBody>
          <a:bodyPr/>
          <a:lstStyle/>
          <a:p>
            <a:endParaRPr lang="en-US"/>
          </a:p>
        </p:txBody>
      </p:sp>
      <p:sp>
        <p:nvSpPr>
          <p:cNvPr id="46" name="Text 43"/>
          <p:cNvSpPr/>
          <p:nvPr/>
        </p:nvSpPr>
        <p:spPr>
          <a:xfrm>
            <a:off x="8421624" y="2514600"/>
            <a:ext cx="80467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3</a:t>
            </a:r>
            <a:endParaRPr lang="en-US" sz="980" dirty="0"/>
          </a:p>
        </p:txBody>
      </p:sp>
      <p:sp>
        <p:nvSpPr>
          <p:cNvPr id="47" name="Shape 44"/>
          <p:cNvSpPr/>
          <p:nvPr/>
        </p:nvSpPr>
        <p:spPr>
          <a:xfrm>
            <a:off x="9281160" y="2459736"/>
            <a:ext cx="960120" cy="347472"/>
          </a:xfrm>
          <a:prstGeom prst="rect">
            <a:avLst/>
          </a:prstGeom>
          <a:solidFill>
            <a:srgbClr val="0D1F36"/>
          </a:solidFill>
          <a:ln w="5715">
            <a:solidFill>
              <a:srgbClr val="23374F"/>
            </a:solidFill>
            <a:prstDash val="solid"/>
          </a:ln>
        </p:spPr>
        <p:txBody>
          <a:bodyPr/>
          <a:lstStyle/>
          <a:p>
            <a:endParaRPr lang="en-US"/>
          </a:p>
        </p:txBody>
      </p:sp>
      <p:sp>
        <p:nvSpPr>
          <p:cNvPr id="48" name="Text 45"/>
          <p:cNvSpPr/>
          <p:nvPr/>
        </p:nvSpPr>
        <p:spPr>
          <a:xfrm>
            <a:off x="9336024" y="2514600"/>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0.5</a:t>
            </a:r>
            <a:endParaRPr lang="en-US" sz="980" dirty="0"/>
          </a:p>
        </p:txBody>
      </p:sp>
      <p:sp>
        <p:nvSpPr>
          <p:cNvPr id="49" name="Shape 46"/>
          <p:cNvSpPr/>
          <p:nvPr/>
        </p:nvSpPr>
        <p:spPr>
          <a:xfrm>
            <a:off x="10241280" y="2459736"/>
            <a:ext cx="960120" cy="347472"/>
          </a:xfrm>
          <a:prstGeom prst="rect">
            <a:avLst/>
          </a:prstGeom>
          <a:solidFill>
            <a:srgbClr val="0D1F36"/>
          </a:solidFill>
          <a:ln w="5715">
            <a:solidFill>
              <a:srgbClr val="23374F"/>
            </a:solidFill>
            <a:prstDash val="solid"/>
          </a:ln>
        </p:spPr>
        <p:txBody>
          <a:bodyPr/>
          <a:lstStyle/>
          <a:p>
            <a:endParaRPr lang="en-US"/>
          </a:p>
        </p:txBody>
      </p:sp>
      <p:sp>
        <p:nvSpPr>
          <p:cNvPr id="50" name="Text 47"/>
          <p:cNvSpPr/>
          <p:nvPr/>
        </p:nvSpPr>
        <p:spPr>
          <a:xfrm>
            <a:off x="10296144" y="2514600"/>
            <a:ext cx="850392" cy="237744"/>
          </a:xfrm>
          <a:prstGeom prst="rect">
            <a:avLst/>
          </a:prstGeom>
          <a:noFill/>
          <a:ln/>
        </p:spPr>
        <p:txBody>
          <a:bodyPr wrap="square" lIns="0" tIns="0" rIns="0" bIns="0" rtlCol="0" anchor="ctr">
            <a:normAutofit/>
          </a:bodyPr>
          <a:lstStyle/>
          <a:p>
            <a:pPr marL="0" indent="0">
              <a:buNone/>
            </a:pPr>
            <a:r>
              <a:rPr lang="en-US" sz="980" dirty="0">
                <a:solidFill>
                  <a:srgbClr val="FFFFFF"/>
                </a:solidFill>
                <a:latin typeface="Calibri" pitchFamily="34" charset="0"/>
                <a:ea typeface="Calibri" pitchFamily="34" charset="-122"/>
                <a:cs typeface="Calibri" pitchFamily="34" charset="-120"/>
              </a:rPr>
              <a:t>0.005</a:t>
            </a:r>
            <a:endParaRPr lang="en-US" sz="980" dirty="0"/>
          </a:p>
        </p:txBody>
      </p:sp>
      <p:sp>
        <p:nvSpPr>
          <p:cNvPr id="51" name="Shape 48"/>
          <p:cNvSpPr/>
          <p:nvPr/>
        </p:nvSpPr>
        <p:spPr>
          <a:xfrm>
            <a:off x="6720840" y="3154680"/>
            <a:ext cx="4480560" cy="960120"/>
          </a:xfrm>
          <a:prstGeom prst="roundRect">
            <a:avLst>
              <a:gd name="adj" fmla="val 11429"/>
            </a:avLst>
          </a:prstGeom>
          <a:solidFill>
            <a:srgbClr val="0D1F36"/>
          </a:solidFill>
          <a:ln w="11430">
            <a:solidFill>
              <a:srgbClr val="37D6E5">
                <a:alpha val="75000"/>
              </a:srgbClr>
            </a:solidFill>
            <a:prstDash val="solid"/>
          </a:ln>
        </p:spPr>
        <p:txBody>
          <a:bodyPr/>
          <a:lstStyle/>
          <a:p>
            <a:endParaRPr lang="en-US"/>
          </a:p>
        </p:txBody>
      </p:sp>
      <p:sp>
        <p:nvSpPr>
          <p:cNvPr id="52" name="Text 49"/>
          <p:cNvSpPr/>
          <p:nvPr/>
        </p:nvSpPr>
        <p:spPr>
          <a:xfrm>
            <a:off x="6885432" y="3282696"/>
            <a:ext cx="4151376" cy="228600"/>
          </a:xfrm>
          <a:prstGeom prst="rect">
            <a:avLst/>
          </a:prstGeom>
          <a:noFill/>
          <a:ln/>
        </p:spPr>
        <p:txBody>
          <a:bodyPr wrap="square" lIns="0" tIns="0" rIns="0" bIns="0" rtlCol="0" anchor="ctr"/>
          <a:lstStyle/>
          <a:p>
            <a:pPr marL="0" indent="0">
              <a:buNone/>
            </a:pPr>
            <a:r>
              <a:rPr lang="en-US" sz="1350" b="1" dirty="0">
                <a:solidFill>
                  <a:srgbClr val="37D6E5"/>
                </a:solidFill>
              </a:rPr>
              <a:t>Best tested configuration</a:t>
            </a:r>
            <a:endParaRPr lang="en-US" sz="1350" dirty="0"/>
          </a:p>
        </p:txBody>
      </p:sp>
      <p:sp>
        <p:nvSpPr>
          <p:cNvPr id="53" name="Text 50"/>
          <p:cNvSpPr/>
          <p:nvPr/>
        </p:nvSpPr>
        <p:spPr>
          <a:xfrm>
            <a:off x="6885432" y="3593592"/>
            <a:ext cx="4151376" cy="411480"/>
          </a:xfrm>
          <a:prstGeom prst="rect">
            <a:avLst/>
          </a:prstGeom>
          <a:noFill/>
          <a:ln/>
        </p:spPr>
        <p:txBody>
          <a:bodyPr wrap="square" lIns="0" tIns="0" rIns="0" bIns="0" rtlCol="0" anchor="t">
            <a:normAutofit/>
          </a:bodyPr>
          <a:lstStyle/>
          <a:p>
            <a:pPr marL="0" indent="0">
              <a:buNone/>
            </a:pPr>
            <a:r>
              <a:rPr lang="en-US" sz="1220" dirty="0">
                <a:solidFill>
                  <a:srgbClr val="B8C6D8"/>
                </a:solidFill>
              </a:rPr>
              <a:t>Both models performed best with 128 hidden dimensions, 3 graph layers, 0.5 dropout and learning rate 0.005.</a:t>
            </a:r>
            <a:endParaRPr lang="en-US" sz="1220" dirty="0"/>
          </a:p>
        </p:txBody>
      </p:sp>
      <p:sp>
        <p:nvSpPr>
          <p:cNvPr id="54" name="Text 51"/>
          <p:cNvSpPr/>
          <p:nvPr/>
        </p:nvSpPr>
        <p:spPr>
          <a:xfrm>
            <a:off x="6720840" y="4617720"/>
            <a:ext cx="205740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0.7212</a:t>
            </a:r>
            <a:endParaRPr lang="en-US" sz="2500" dirty="0"/>
          </a:p>
        </p:txBody>
      </p:sp>
      <p:sp>
        <p:nvSpPr>
          <p:cNvPr id="55" name="Text 52"/>
          <p:cNvSpPr/>
          <p:nvPr/>
        </p:nvSpPr>
        <p:spPr>
          <a:xfrm>
            <a:off x="6720840" y="5056632"/>
            <a:ext cx="205740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GCN best validation</a:t>
            </a:r>
            <a:endParaRPr lang="en-US" sz="950" dirty="0"/>
          </a:p>
        </p:txBody>
      </p:sp>
      <p:sp>
        <p:nvSpPr>
          <p:cNvPr id="56" name="Shape 53"/>
          <p:cNvSpPr/>
          <p:nvPr/>
        </p:nvSpPr>
        <p:spPr>
          <a:xfrm>
            <a:off x="6720840" y="5330952"/>
            <a:ext cx="1005840" cy="0"/>
          </a:xfrm>
          <a:prstGeom prst="line">
            <a:avLst/>
          </a:prstGeom>
          <a:noFill/>
          <a:ln w="20320">
            <a:solidFill>
              <a:srgbClr val="37D6E5"/>
            </a:solidFill>
            <a:prstDash val="solid"/>
          </a:ln>
        </p:spPr>
        <p:txBody>
          <a:bodyPr/>
          <a:lstStyle/>
          <a:p>
            <a:endParaRPr lang="en-US"/>
          </a:p>
        </p:txBody>
      </p:sp>
      <p:sp>
        <p:nvSpPr>
          <p:cNvPr id="57" name="Text 54"/>
          <p:cNvSpPr/>
          <p:nvPr/>
        </p:nvSpPr>
        <p:spPr>
          <a:xfrm>
            <a:off x="9189720" y="4617720"/>
            <a:ext cx="242316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0.7256</a:t>
            </a:r>
            <a:endParaRPr lang="en-US" sz="2500" dirty="0"/>
          </a:p>
        </p:txBody>
      </p:sp>
      <p:sp>
        <p:nvSpPr>
          <p:cNvPr id="58" name="Text 55"/>
          <p:cNvSpPr/>
          <p:nvPr/>
        </p:nvSpPr>
        <p:spPr>
          <a:xfrm>
            <a:off x="9189720" y="5056632"/>
            <a:ext cx="242316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GraphSAGE best validation</a:t>
            </a:r>
            <a:endParaRPr lang="en-US" sz="950" dirty="0"/>
          </a:p>
        </p:txBody>
      </p:sp>
      <p:sp>
        <p:nvSpPr>
          <p:cNvPr id="59" name="Shape 56"/>
          <p:cNvSpPr/>
          <p:nvPr/>
        </p:nvSpPr>
        <p:spPr>
          <a:xfrm>
            <a:off x="9189720" y="5330952"/>
            <a:ext cx="1005840" cy="0"/>
          </a:xfrm>
          <a:prstGeom prst="line">
            <a:avLst/>
          </a:prstGeom>
          <a:noFill/>
          <a:ln w="20320">
            <a:solidFill>
              <a:srgbClr val="FFB703"/>
            </a:solidFill>
            <a:prstDash val="solid"/>
          </a:ln>
        </p:spPr>
        <p:txBody>
          <a:bodyPr/>
          <a:lstStyle/>
          <a:p>
            <a:endParaRPr lang="en-US"/>
          </a:p>
        </p:txBody>
      </p:sp>
      <p:sp>
        <p:nvSpPr>
          <p:cNvPr id="61" name="Text 57"/>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62" name="Text 58"/>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Final model evaluation</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Accuracy, precision, recall and F1 on validation and test nodes</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21792" y="1216152"/>
            <a:ext cx="5157216" cy="2551176"/>
          </a:xfrm>
          <a:prstGeom prst="roundRect">
            <a:avLst>
              <a:gd name="adj" fmla="val 2867"/>
            </a:avLst>
          </a:prstGeom>
          <a:solidFill>
            <a:srgbClr val="0E2037"/>
          </a:solidFill>
          <a:ln w="8890">
            <a:solidFill>
              <a:srgbClr val="23374F"/>
            </a:solidFill>
            <a:prstDash val="solid"/>
          </a:ln>
        </p:spPr>
        <p:txBody>
          <a:bodyPr/>
          <a:lstStyle/>
          <a:p>
            <a:endParaRPr lang="en-US"/>
          </a:p>
        </p:txBody>
      </p:sp>
      <p:pic>
        <p:nvPicPr>
          <p:cNvPr id="10" name="Image 0" descr="/mnt/data/extracted_report_images/p45_img1.png"/>
          <p:cNvPicPr>
            <a:picLocks noChangeAspect="1"/>
          </p:cNvPicPr>
          <p:nvPr/>
        </p:nvPicPr>
        <p:blipFill>
          <a:blip r:embed="rId3"/>
          <a:stretch>
            <a:fillRect/>
          </a:stretch>
        </p:blipFill>
        <p:spPr>
          <a:xfrm>
            <a:off x="658494" y="1234440"/>
            <a:ext cx="5083811" cy="2514600"/>
          </a:xfrm>
          <a:prstGeom prst="rect">
            <a:avLst/>
          </a:prstGeom>
        </p:spPr>
      </p:pic>
      <p:sp>
        <p:nvSpPr>
          <p:cNvPr id="11" name="Shape 8"/>
          <p:cNvSpPr/>
          <p:nvPr/>
        </p:nvSpPr>
        <p:spPr>
          <a:xfrm>
            <a:off x="6172200" y="1325880"/>
            <a:ext cx="1417320" cy="347472"/>
          </a:xfrm>
          <a:prstGeom prst="rect">
            <a:avLst/>
          </a:prstGeom>
          <a:solidFill>
            <a:srgbClr val="122A47"/>
          </a:solidFill>
          <a:ln w="5715">
            <a:solidFill>
              <a:srgbClr val="23374F"/>
            </a:solidFill>
            <a:prstDash val="solid"/>
          </a:ln>
        </p:spPr>
        <p:txBody>
          <a:bodyPr/>
          <a:lstStyle/>
          <a:p>
            <a:endParaRPr lang="en-US"/>
          </a:p>
        </p:txBody>
      </p:sp>
      <p:sp>
        <p:nvSpPr>
          <p:cNvPr id="12" name="Text 9"/>
          <p:cNvSpPr/>
          <p:nvPr/>
        </p:nvSpPr>
        <p:spPr>
          <a:xfrm>
            <a:off x="6227064" y="1380744"/>
            <a:ext cx="1307592" cy="237744"/>
          </a:xfrm>
          <a:prstGeom prst="rect">
            <a:avLst/>
          </a:prstGeom>
          <a:noFill/>
          <a:ln/>
        </p:spPr>
        <p:txBody>
          <a:bodyPr wrap="square" lIns="0" tIns="0" rIns="0" bIns="0" rtlCol="0" anchor="ctr">
            <a:normAutofit/>
          </a:bodyPr>
          <a:lstStyle/>
          <a:p>
            <a:pPr marL="0" indent="0">
              <a:buNone/>
            </a:pPr>
            <a:r>
              <a:rPr lang="en-US" sz="950" b="1" dirty="0">
                <a:solidFill>
                  <a:srgbClr val="8DEDF4"/>
                </a:solidFill>
                <a:latin typeface="Calibri" pitchFamily="34" charset="0"/>
                <a:ea typeface="Calibri" pitchFamily="34" charset="-122"/>
                <a:cs typeface="Calibri" pitchFamily="34" charset="-120"/>
              </a:rPr>
              <a:t>Model/Split</a:t>
            </a:r>
            <a:endParaRPr lang="en-US" sz="950" dirty="0"/>
          </a:p>
        </p:txBody>
      </p:sp>
      <p:sp>
        <p:nvSpPr>
          <p:cNvPr id="13" name="Shape 10"/>
          <p:cNvSpPr/>
          <p:nvPr/>
        </p:nvSpPr>
        <p:spPr>
          <a:xfrm>
            <a:off x="7589520" y="1325880"/>
            <a:ext cx="1051560" cy="347472"/>
          </a:xfrm>
          <a:prstGeom prst="rect">
            <a:avLst/>
          </a:prstGeom>
          <a:solidFill>
            <a:srgbClr val="122A47"/>
          </a:solidFill>
          <a:ln w="5715">
            <a:solidFill>
              <a:srgbClr val="23374F"/>
            </a:solidFill>
            <a:prstDash val="solid"/>
          </a:ln>
        </p:spPr>
        <p:txBody>
          <a:bodyPr/>
          <a:lstStyle/>
          <a:p>
            <a:endParaRPr lang="en-US"/>
          </a:p>
        </p:txBody>
      </p:sp>
      <p:sp>
        <p:nvSpPr>
          <p:cNvPr id="14" name="Text 11"/>
          <p:cNvSpPr/>
          <p:nvPr/>
        </p:nvSpPr>
        <p:spPr>
          <a:xfrm>
            <a:off x="7644384" y="1380744"/>
            <a:ext cx="941832" cy="237744"/>
          </a:xfrm>
          <a:prstGeom prst="rect">
            <a:avLst/>
          </a:prstGeom>
          <a:noFill/>
          <a:ln/>
        </p:spPr>
        <p:txBody>
          <a:bodyPr wrap="square" lIns="0" tIns="0" rIns="0" bIns="0" rtlCol="0" anchor="ctr">
            <a:normAutofit/>
          </a:bodyPr>
          <a:lstStyle/>
          <a:p>
            <a:pPr marL="0" indent="0">
              <a:buNone/>
            </a:pPr>
            <a:r>
              <a:rPr lang="en-US" sz="950" b="1" dirty="0">
                <a:solidFill>
                  <a:srgbClr val="8DEDF4"/>
                </a:solidFill>
                <a:latin typeface="Calibri" pitchFamily="34" charset="0"/>
                <a:ea typeface="Calibri" pitchFamily="34" charset="-122"/>
                <a:cs typeface="Calibri" pitchFamily="34" charset="-120"/>
              </a:rPr>
              <a:t>Accuracy</a:t>
            </a:r>
            <a:endParaRPr lang="en-US" sz="950" dirty="0"/>
          </a:p>
        </p:txBody>
      </p:sp>
      <p:sp>
        <p:nvSpPr>
          <p:cNvPr id="15" name="Shape 12"/>
          <p:cNvSpPr/>
          <p:nvPr/>
        </p:nvSpPr>
        <p:spPr>
          <a:xfrm>
            <a:off x="8641080" y="1325880"/>
            <a:ext cx="1234440" cy="347472"/>
          </a:xfrm>
          <a:prstGeom prst="rect">
            <a:avLst/>
          </a:prstGeom>
          <a:solidFill>
            <a:srgbClr val="122A47"/>
          </a:solidFill>
          <a:ln w="5715">
            <a:solidFill>
              <a:srgbClr val="23374F"/>
            </a:solidFill>
            <a:prstDash val="solid"/>
          </a:ln>
        </p:spPr>
        <p:txBody>
          <a:bodyPr/>
          <a:lstStyle/>
          <a:p>
            <a:endParaRPr lang="en-US"/>
          </a:p>
        </p:txBody>
      </p:sp>
      <p:sp>
        <p:nvSpPr>
          <p:cNvPr id="16" name="Text 13"/>
          <p:cNvSpPr/>
          <p:nvPr/>
        </p:nvSpPr>
        <p:spPr>
          <a:xfrm>
            <a:off x="8695944" y="1380744"/>
            <a:ext cx="1124712" cy="237744"/>
          </a:xfrm>
          <a:prstGeom prst="rect">
            <a:avLst/>
          </a:prstGeom>
          <a:noFill/>
          <a:ln/>
        </p:spPr>
        <p:txBody>
          <a:bodyPr wrap="square" lIns="0" tIns="0" rIns="0" bIns="0" rtlCol="0" anchor="ctr">
            <a:normAutofit/>
          </a:bodyPr>
          <a:lstStyle/>
          <a:p>
            <a:pPr marL="0" indent="0">
              <a:buNone/>
            </a:pPr>
            <a:r>
              <a:rPr lang="en-US" sz="950" b="1" dirty="0">
                <a:solidFill>
                  <a:srgbClr val="8DEDF4"/>
                </a:solidFill>
                <a:latin typeface="Calibri" pitchFamily="34" charset="0"/>
                <a:ea typeface="Calibri" pitchFamily="34" charset="-122"/>
                <a:cs typeface="Calibri" pitchFamily="34" charset="-120"/>
              </a:rPr>
              <a:t>F1 weighted</a:t>
            </a:r>
            <a:endParaRPr lang="en-US" sz="950" dirty="0"/>
          </a:p>
        </p:txBody>
      </p:sp>
      <p:sp>
        <p:nvSpPr>
          <p:cNvPr id="17" name="Shape 14"/>
          <p:cNvSpPr/>
          <p:nvPr/>
        </p:nvSpPr>
        <p:spPr>
          <a:xfrm>
            <a:off x="9875520" y="1325880"/>
            <a:ext cx="1234440" cy="347472"/>
          </a:xfrm>
          <a:prstGeom prst="rect">
            <a:avLst/>
          </a:prstGeom>
          <a:solidFill>
            <a:srgbClr val="122A47"/>
          </a:solidFill>
          <a:ln w="5715">
            <a:solidFill>
              <a:srgbClr val="23374F"/>
            </a:solidFill>
            <a:prstDash val="solid"/>
          </a:ln>
        </p:spPr>
        <p:txBody>
          <a:bodyPr/>
          <a:lstStyle/>
          <a:p>
            <a:endParaRPr lang="en-US"/>
          </a:p>
        </p:txBody>
      </p:sp>
      <p:sp>
        <p:nvSpPr>
          <p:cNvPr id="18" name="Text 15"/>
          <p:cNvSpPr/>
          <p:nvPr/>
        </p:nvSpPr>
        <p:spPr>
          <a:xfrm>
            <a:off x="9930384" y="1380744"/>
            <a:ext cx="1124712" cy="237744"/>
          </a:xfrm>
          <a:prstGeom prst="rect">
            <a:avLst/>
          </a:prstGeom>
          <a:noFill/>
          <a:ln/>
        </p:spPr>
        <p:txBody>
          <a:bodyPr wrap="square" lIns="0" tIns="0" rIns="0" bIns="0" rtlCol="0" anchor="ctr">
            <a:normAutofit/>
          </a:bodyPr>
          <a:lstStyle/>
          <a:p>
            <a:pPr marL="0" indent="0">
              <a:buNone/>
            </a:pPr>
            <a:r>
              <a:rPr lang="en-US" sz="950" b="1" dirty="0">
                <a:solidFill>
                  <a:srgbClr val="8DEDF4"/>
                </a:solidFill>
                <a:latin typeface="Calibri" pitchFamily="34" charset="0"/>
                <a:ea typeface="Calibri" pitchFamily="34" charset="-122"/>
                <a:cs typeface="Calibri" pitchFamily="34" charset="-120"/>
              </a:rPr>
              <a:t>F1 macro</a:t>
            </a:r>
            <a:endParaRPr lang="en-US" sz="950" dirty="0"/>
          </a:p>
        </p:txBody>
      </p:sp>
      <p:sp>
        <p:nvSpPr>
          <p:cNvPr id="19" name="Shape 16"/>
          <p:cNvSpPr/>
          <p:nvPr/>
        </p:nvSpPr>
        <p:spPr>
          <a:xfrm>
            <a:off x="6172200" y="1673352"/>
            <a:ext cx="1417320" cy="347472"/>
          </a:xfrm>
          <a:prstGeom prst="rect">
            <a:avLst/>
          </a:prstGeom>
          <a:solidFill>
            <a:srgbClr val="0D1F36"/>
          </a:solidFill>
          <a:ln w="5715">
            <a:solidFill>
              <a:srgbClr val="23374F"/>
            </a:solidFill>
            <a:prstDash val="solid"/>
          </a:ln>
        </p:spPr>
        <p:txBody>
          <a:bodyPr/>
          <a:lstStyle/>
          <a:p>
            <a:endParaRPr lang="en-US"/>
          </a:p>
        </p:txBody>
      </p:sp>
      <p:sp>
        <p:nvSpPr>
          <p:cNvPr id="20" name="Text 17"/>
          <p:cNvSpPr/>
          <p:nvPr/>
        </p:nvSpPr>
        <p:spPr>
          <a:xfrm>
            <a:off x="6227064" y="1728216"/>
            <a:ext cx="130759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GCN Val</a:t>
            </a:r>
            <a:endParaRPr lang="en-US" sz="950" dirty="0"/>
          </a:p>
        </p:txBody>
      </p:sp>
      <p:sp>
        <p:nvSpPr>
          <p:cNvPr id="21" name="Shape 18"/>
          <p:cNvSpPr/>
          <p:nvPr/>
        </p:nvSpPr>
        <p:spPr>
          <a:xfrm>
            <a:off x="7589520" y="1673352"/>
            <a:ext cx="1051560" cy="347472"/>
          </a:xfrm>
          <a:prstGeom prst="rect">
            <a:avLst/>
          </a:prstGeom>
          <a:solidFill>
            <a:srgbClr val="0D1F36"/>
          </a:solidFill>
          <a:ln w="5715">
            <a:solidFill>
              <a:srgbClr val="23374F"/>
            </a:solidFill>
            <a:prstDash val="solid"/>
          </a:ln>
        </p:spPr>
        <p:txBody>
          <a:bodyPr/>
          <a:lstStyle/>
          <a:p>
            <a:endParaRPr lang="en-US"/>
          </a:p>
        </p:txBody>
      </p:sp>
      <p:sp>
        <p:nvSpPr>
          <p:cNvPr id="22" name="Text 19"/>
          <p:cNvSpPr/>
          <p:nvPr/>
        </p:nvSpPr>
        <p:spPr>
          <a:xfrm>
            <a:off x="7644384" y="1728216"/>
            <a:ext cx="94183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0.7212</a:t>
            </a:r>
            <a:endParaRPr lang="en-US" sz="950" dirty="0"/>
          </a:p>
        </p:txBody>
      </p:sp>
      <p:sp>
        <p:nvSpPr>
          <p:cNvPr id="23" name="Shape 20"/>
          <p:cNvSpPr/>
          <p:nvPr/>
        </p:nvSpPr>
        <p:spPr>
          <a:xfrm>
            <a:off x="8641080" y="1673352"/>
            <a:ext cx="1234440" cy="347472"/>
          </a:xfrm>
          <a:prstGeom prst="rect">
            <a:avLst/>
          </a:prstGeom>
          <a:solidFill>
            <a:srgbClr val="0D1F36"/>
          </a:solidFill>
          <a:ln w="5715">
            <a:solidFill>
              <a:srgbClr val="23374F"/>
            </a:solidFill>
            <a:prstDash val="solid"/>
          </a:ln>
        </p:spPr>
        <p:txBody>
          <a:bodyPr/>
          <a:lstStyle/>
          <a:p>
            <a:endParaRPr lang="en-US"/>
          </a:p>
        </p:txBody>
      </p:sp>
      <p:sp>
        <p:nvSpPr>
          <p:cNvPr id="24" name="Text 21"/>
          <p:cNvSpPr/>
          <p:nvPr/>
        </p:nvSpPr>
        <p:spPr>
          <a:xfrm>
            <a:off x="8695944" y="1728216"/>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0.7063</a:t>
            </a:r>
            <a:endParaRPr lang="en-US" sz="950" dirty="0"/>
          </a:p>
        </p:txBody>
      </p:sp>
      <p:sp>
        <p:nvSpPr>
          <p:cNvPr id="25" name="Shape 22"/>
          <p:cNvSpPr/>
          <p:nvPr/>
        </p:nvSpPr>
        <p:spPr>
          <a:xfrm>
            <a:off x="9875520" y="1673352"/>
            <a:ext cx="1234440" cy="347472"/>
          </a:xfrm>
          <a:prstGeom prst="rect">
            <a:avLst/>
          </a:prstGeom>
          <a:solidFill>
            <a:srgbClr val="0D1F36"/>
          </a:solidFill>
          <a:ln w="5715">
            <a:solidFill>
              <a:srgbClr val="23374F"/>
            </a:solidFill>
            <a:prstDash val="solid"/>
          </a:ln>
        </p:spPr>
        <p:txBody>
          <a:bodyPr/>
          <a:lstStyle/>
          <a:p>
            <a:endParaRPr lang="en-US"/>
          </a:p>
        </p:txBody>
      </p:sp>
      <p:sp>
        <p:nvSpPr>
          <p:cNvPr id="26" name="Text 23"/>
          <p:cNvSpPr/>
          <p:nvPr/>
        </p:nvSpPr>
        <p:spPr>
          <a:xfrm>
            <a:off x="9930384" y="1728216"/>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0.5026</a:t>
            </a:r>
            <a:endParaRPr lang="en-US" sz="950" dirty="0"/>
          </a:p>
        </p:txBody>
      </p:sp>
      <p:sp>
        <p:nvSpPr>
          <p:cNvPr id="27" name="Shape 24"/>
          <p:cNvSpPr/>
          <p:nvPr/>
        </p:nvSpPr>
        <p:spPr>
          <a:xfrm>
            <a:off x="6172200" y="2020824"/>
            <a:ext cx="1417320" cy="347472"/>
          </a:xfrm>
          <a:prstGeom prst="rect">
            <a:avLst/>
          </a:prstGeom>
          <a:solidFill>
            <a:srgbClr val="0D1F36"/>
          </a:solidFill>
          <a:ln w="5715">
            <a:solidFill>
              <a:srgbClr val="23374F"/>
            </a:solidFill>
            <a:prstDash val="solid"/>
          </a:ln>
        </p:spPr>
        <p:txBody>
          <a:bodyPr/>
          <a:lstStyle/>
          <a:p>
            <a:endParaRPr lang="en-US"/>
          </a:p>
        </p:txBody>
      </p:sp>
      <p:sp>
        <p:nvSpPr>
          <p:cNvPr id="28" name="Text 25"/>
          <p:cNvSpPr/>
          <p:nvPr/>
        </p:nvSpPr>
        <p:spPr>
          <a:xfrm>
            <a:off x="6227064" y="2075688"/>
            <a:ext cx="130759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GCN Test</a:t>
            </a:r>
            <a:endParaRPr lang="en-US" sz="950" dirty="0"/>
          </a:p>
        </p:txBody>
      </p:sp>
      <p:sp>
        <p:nvSpPr>
          <p:cNvPr id="29" name="Shape 26"/>
          <p:cNvSpPr/>
          <p:nvPr/>
        </p:nvSpPr>
        <p:spPr>
          <a:xfrm>
            <a:off x="7589520" y="2020824"/>
            <a:ext cx="1051560" cy="347472"/>
          </a:xfrm>
          <a:prstGeom prst="rect">
            <a:avLst/>
          </a:prstGeom>
          <a:solidFill>
            <a:srgbClr val="0D1F36"/>
          </a:solidFill>
          <a:ln w="5715">
            <a:solidFill>
              <a:srgbClr val="23374F"/>
            </a:solidFill>
            <a:prstDash val="solid"/>
          </a:ln>
        </p:spPr>
        <p:txBody>
          <a:bodyPr/>
          <a:lstStyle/>
          <a:p>
            <a:endParaRPr lang="en-US"/>
          </a:p>
        </p:txBody>
      </p:sp>
      <p:sp>
        <p:nvSpPr>
          <p:cNvPr id="30" name="Text 27"/>
          <p:cNvSpPr/>
          <p:nvPr/>
        </p:nvSpPr>
        <p:spPr>
          <a:xfrm>
            <a:off x="7644384" y="2075688"/>
            <a:ext cx="94183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0.7114</a:t>
            </a:r>
            <a:endParaRPr lang="en-US" sz="950" dirty="0"/>
          </a:p>
        </p:txBody>
      </p:sp>
      <p:sp>
        <p:nvSpPr>
          <p:cNvPr id="31" name="Shape 28"/>
          <p:cNvSpPr/>
          <p:nvPr/>
        </p:nvSpPr>
        <p:spPr>
          <a:xfrm>
            <a:off x="8641080" y="2020824"/>
            <a:ext cx="1234440" cy="347472"/>
          </a:xfrm>
          <a:prstGeom prst="rect">
            <a:avLst/>
          </a:prstGeom>
          <a:solidFill>
            <a:srgbClr val="0D1F36"/>
          </a:solidFill>
          <a:ln w="5715">
            <a:solidFill>
              <a:srgbClr val="23374F"/>
            </a:solidFill>
            <a:prstDash val="solid"/>
          </a:ln>
        </p:spPr>
        <p:txBody>
          <a:bodyPr/>
          <a:lstStyle/>
          <a:p>
            <a:endParaRPr lang="en-US"/>
          </a:p>
        </p:txBody>
      </p:sp>
      <p:sp>
        <p:nvSpPr>
          <p:cNvPr id="32" name="Text 29"/>
          <p:cNvSpPr/>
          <p:nvPr/>
        </p:nvSpPr>
        <p:spPr>
          <a:xfrm>
            <a:off x="8695944" y="2075688"/>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0.6966</a:t>
            </a:r>
            <a:endParaRPr lang="en-US" sz="950" dirty="0"/>
          </a:p>
        </p:txBody>
      </p:sp>
      <p:sp>
        <p:nvSpPr>
          <p:cNvPr id="33" name="Shape 30"/>
          <p:cNvSpPr/>
          <p:nvPr/>
        </p:nvSpPr>
        <p:spPr>
          <a:xfrm>
            <a:off x="9875520" y="2020824"/>
            <a:ext cx="1234440" cy="347472"/>
          </a:xfrm>
          <a:prstGeom prst="rect">
            <a:avLst/>
          </a:prstGeom>
          <a:solidFill>
            <a:srgbClr val="0D1F36"/>
          </a:solidFill>
          <a:ln w="5715">
            <a:solidFill>
              <a:srgbClr val="23374F"/>
            </a:solidFill>
            <a:prstDash val="solid"/>
          </a:ln>
        </p:spPr>
        <p:txBody>
          <a:bodyPr/>
          <a:lstStyle/>
          <a:p>
            <a:endParaRPr lang="en-US"/>
          </a:p>
        </p:txBody>
      </p:sp>
      <p:sp>
        <p:nvSpPr>
          <p:cNvPr id="34" name="Text 31"/>
          <p:cNvSpPr/>
          <p:nvPr/>
        </p:nvSpPr>
        <p:spPr>
          <a:xfrm>
            <a:off x="9930384" y="2075688"/>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0.4890</a:t>
            </a:r>
            <a:endParaRPr lang="en-US" sz="950" dirty="0"/>
          </a:p>
        </p:txBody>
      </p:sp>
      <p:sp>
        <p:nvSpPr>
          <p:cNvPr id="35" name="Shape 32"/>
          <p:cNvSpPr/>
          <p:nvPr/>
        </p:nvSpPr>
        <p:spPr>
          <a:xfrm>
            <a:off x="6172200" y="2368296"/>
            <a:ext cx="1417320" cy="347472"/>
          </a:xfrm>
          <a:prstGeom prst="rect">
            <a:avLst/>
          </a:prstGeom>
          <a:solidFill>
            <a:srgbClr val="0D1F36"/>
          </a:solidFill>
          <a:ln w="5715">
            <a:solidFill>
              <a:srgbClr val="23374F"/>
            </a:solidFill>
            <a:prstDash val="solid"/>
          </a:ln>
        </p:spPr>
        <p:txBody>
          <a:bodyPr/>
          <a:lstStyle/>
          <a:p>
            <a:endParaRPr lang="en-US"/>
          </a:p>
        </p:txBody>
      </p:sp>
      <p:sp>
        <p:nvSpPr>
          <p:cNvPr id="36" name="Text 33"/>
          <p:cNvSpPr/>
          <p:nvPr/>
        </p:nvSpPr>
        <p:spPr>
          <a:xfrm>
            <a:off x="6227064" y="2423160"/>
            <a:ext cx="130759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SAGE Val</a:t>
            </a:r>
            <a:endParaRPr lang="en-US" sz="950" dirty="0"/>
          </a:p>
        </p:txBody>
      </p:sp>
      <p:sp>
        <p:nvSpPr>
          <p:cNvPr id="37" name="Shape 34"/>
          <p:cNvSpPr/>
          <p:nvPr/>
        </p:nvSpPr>
        <p:spPr>
          <a:xfrm>
            <a:off x="7589520" y="2368296"/>
            <a:ext cx="1051560" cy="347472"/>
          </a:xfrm>
          <a:prstGeom prst="rect">
            <a:avLst/>
          </a:prstGeom>
          <a:solidFill>
            <a:srgbClr val="0D1F36"/>
          </a:solidFill>
          <a:ln w="5715">
            <a:solidFill>
              <a:srgbClr val="23374F"/>
            </a:solidFill>
            <a:prstDash val="solid"/>
          </a:ln>
        </p:spPr>
        <p:txBody>
          <a:bodyPr/>
          <a:lstStyle/>
          <a:p>
            <a:endParaRPr lang="en-US"/>
          </a:p>
        </p:txBody>
      </p:sp>
      <p:sp>
        <p:nvSpPr>
          <p:cNvPr id="38" name="Text 35"/>
          <p:cNvSpPr/>
          <p:nvPr/>
        </p:nvSpPr>
        <p:spPr>
          <a:xfrm>
            <a:off x="7644384" y="2423160"/>
            <a:ext cx="941832" cy="237744"/>
          </a:xfrm>
          <a:prstGeom prst="rect">
            <a:avLst/>
          </a:prstGeom>
          <a:noFill/>
          <a:ln/>
        </p:spPr>
        <p:txBody>
          <a:bodyPr wrap="square" lIns="0" tIns="0" rIns="0" bIns="0" rtlCol="0" anchor="ctr">
            <a:normAutofit/>
          </a:bodyPr>
          <a:lstStyle/>
          <a:p>
            <a:r>
              <a:rPr lang="en-US" sz="1000" dirty="0">
                <a:solidFill>
                  <a:schemeClr val="bg1"/>
                </a:solidFill>
              </a:rPr>
              <a:t>0.7256</a:t>
            </a:r>
            <a:endParaRPr lang="en-US" sz="950" dirty="0">
              <a:solidFill>
                <a:schemeClr val="bg1"/>
              </a:solidFill>
            </a:endParaRPr>
          </a:p>
        </p:txBody>
      </p:sp>
      <p:sp>
        <p:nvSpPr>
          <p:cNvPr id="39" name="Shape 36"/>
          <p:cNvSpPr/>
          <p:nvPr/>
        </p:nvSpPr>
        <p:spPr>
          <a:xfrm>
            <a:off x="8641080" y="2368296"/>
            <a:ext cx="1234440" cy="347472"/>
          </a:xfrm>
          <a:prstGeom prst="rect">
            <a:avLst/>
          </a:prstGeom>
          <a:solidFill>
            <a:srgbClr val="0D1F36"/>
          </a:solidFill>
          <a:ln w="5715">
            <a:solidFill>
              <a:srgbClr val="23374F"/>
            </a:solidFill>
            <a:prstDash val="solid"/>
          </a:ln>
        </p:spPr>
        <p:txBody>
          <a:bodyPr/>
          <a:lstStyle/>
          <a:p>
            <a:endParaRPr lang="en-US"/>
          </a:p>
        </p:txBody>
      </p:sp>
      <p:sp>
        <p:nvSpPr>
          <p:cNvPr id="40" name="Text 37"/>
          <p:cNvSpPr/>
          <p:nvPr/>
        </p:nvSpPr>
        <p:spPr>
          <a:xfrm>
            <a:off x="8695944" y="2423160"/>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0.7096</a:t>
            </a:r>
            <a:endParaRPr lang="en-US" sz="950" dirty="0"/>
          </a:p>
        </p:txBody>
      </p:sp>
      <p:sp>
        <p:nvSpPr>
          <p:cNvPr id="41" name="Shape 38"/>
          <p:cNvSpPr/>
          <p:nvPr/>
        </p:nvSpPr>
        <p:spPr>
          <a:xfrm>
            <a:off x="9875520" y="2368296"/>
            <a:ext cx="1234440" cy="347472"/>
          </a:xfrm>
          <a:prstGeom prst="rect">
            <a:avLst/>
          </a:prstGeom>
          <a:solidFill>
            <a:srgbClr val="0D1F36"/>
          </a:solidFill>
          <a:ln w="5715">
            <a:solidFill>
              <a:srgbClr val="23374F"/>
            </a:solidFill>
            <a:prstDash val="solid"/>
          </a:ln>
        </p:spPr>
        <p:txBody>
          <a:bodyPr/>
          <a:lstStyle/>
          <a:p>
            <a:endParaRPr lang="en-US"/>
          </a:p>
        </p:txBody>
      </p:sp>
      <p:sp>
        <p:nvSpPr>
          <p:cNvPr id="42" name="Text 39"/>
          <p:cNvSpPr/>
          <p:nvPr/>
        </p:nvSpPr>
        <p:spPr>
          <a:xfrm>
            <a:off x="9930384" y="2423160"/>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0.5030</a:t>
            </a:r>
            <a:endParaRPr lang="en-US" sz="950" dirty="0"/>
          </a:p>
        </p:txBody>
      </p:sp>
      <p:sp>
        <p:nvSpPr>
          <p:cNvPr id="43" name="Shape 40"/>
          <p:cNvSpPr/>
          <p:nvPr/>
        </p:nvSpPr>
        <p:spPr>
          <a:xfrm>
            <a:off x="6172200" y="2715768"/>
            <a:ext cx="1417320" cy="347472"/>
          </a:xfrm>
          <a:prstGeom prst="rect">
            <a:avLst/>
          </a:prstGeom>
          <a:solidFill>
            <a:srgbClr val="0D1F36"/>
          </a:solidFill>
          <a:ln w="5715">
            <a:solidFill>
              <a:srgbClr val="23374F"/>
            </a:solidFill>
            <a:prstDash val="solid"/>
          </a:ln>
        </p:spPr>
        <p:txBody>
          <a:bodyPr/>
          <a:lstStyle/>
          <a:p>
            <a:endParaRPr lang="en-US"/>
          </a:p>
        </p:txBody>
      </p:sp>
      <p:sp>
        <p:nvSpPr>
          <p:cNvPr id="44" name="Text 41"/>
          <p:cNvSpPr/>
          <p:nvPr/>
        </p:nvSpPr>
        <p:spPr>
          <a:xfrm>
            <a:off x="6227064" y="2770632"/>
            <a:ext cx="130759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SAGE Test</a:t>
            </a:r>
            <a:endParaRPr lang="en-US" sz="950" dirty="0"/>
          </a:p>
        </p:txBody>
      </p:sp>
      <p:sp>
        <p:nvSpPr>
          <p:cNvPr id="45" name="Shape 42"/>
          <p:cNvSpPr/>
          <p:nvPr/>
        </p:nvSpPr>
        <p:spPr>
          <a:xfrm>
            <a:off x="7589520" y="2715768"/>
            <a:ext cx="1051560" cy="347472"/>
          </a:xfrm>
          <a:prstGeom prst="rect">
            <a:avLst/>
          </a:prstGeom>
          <a:solidFill>
            <a:srgbClr val="0D1F36"/>
          </a:solidFill>
          <a:ln w="5715">
            <a:solidFill>
              <a:srgbClr val="23374F"/>
            </a:solidFill>
            <a:prstDash val="solid"/>
          </a:ln>
        </p:spPr>
        <p:txBody>
          <a:bodyPr/>
          <a:lstStyle/>
          <a:p>
            <a:endParaRPr lang="en-US"/>
          </a:p>
        </p:txBody>
      </p:sp>
      <p:sp>
        <p:nvSpPr>
          <p:cNvPr id="46" name="Text 43"/>
          <p:cNvSpPr/>
          <p:nvPr/>
        </p:nvSpPr>
        <p:spPr>
          <a:xfrm>
            <a:off x="7644384" y="2770632"/>
            <a:ext cx="94183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0.7117</a:t>
            </a:r>
            <a:endParaRPr lang="en-US" sz="950" dirty="0"/>
          </a:p>
        </p:txBody>
      </p:sp>
      <p:sp>
        <p:nvSpPr>
          <p:cNvPr id="47" name="Shape 44"/>
          <p:cNvSpPr/>
          <p:nvPr/>
        </p:nvSpPr>
        <p:spPr>
          <a:xfrm>
            <a:off x="8641080" y="2715768"/>
            <a:ext cx="1234440" cy="347472"/>
          </a:xfrm>
          <a:prstGeom prst="rect">
            <a:avLst/>
          </a:prstGeom>
          <a:solidFill>
            <a:srgbClr val="0D1F36"/>
          </a:solidFill>
          <a:ln w="5715">
            <a:solidFill>
              <a:srgbClr val="23374F"/>
            </a:solidFill>
            <a:prstDash val="solid"/>
          </a:ln>
        </p:spPr>
        <p:txBody>
          <a:bodyPr/>
          <a:lstStyle/>
          <a:p>
            <a:endParaRPr lang="en-US"/>
          </a:p>
        </p:txBody>
      </p:sp>
      <p:sp>
        <p:nvSpPr>
          <p:cNvPr id="48" name="Text 45"/>
          <p:cNvSpPr/>
          <p:nvPr/>
        </p:nvSpPr>
        <p:spPr>
          <a:xfrm>
            <a:off x="8695944" y="2770632"/>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0.6994</a:t>
            </a:r>
            <a:endParaRPr lang="en-US" sz="950" dirty="0"/>
          </a:p>
        </p:txBody>
      </p:sp>
      <p:sp>
        <p:nvSpPr>
          <p:cNvPr id="49" name="Shape 46"/>
          <p:cNvSpPr/>
          <p:nvPr/>
        </p:nvSpPr>
        <p:spPr>
          <a:xfrm>
            <a:off x="9875520" y="2715768"/>
            <a:ext cx="1234440" cy="347472"/>
          </a:xfrm>
          <a:prstGeom prst="rect">
            <a:avLst/>
          </a:prstGeom>
          <a:solidFill>
            <a:srgbClr val="0D1F36"/>
          </a:solidFill>
          <a:ln w="5715">
            <a:solidFill>
              <a:srgbClr val="23374F"/>
            </a:solidFill>
            <a:prstDash val="solid"/>
          </a:ln>
        </p:spPr>
        <p:txBody>
          <a:bodyPr/>
          <a:lstStyle/>
          <a:p>
            <a:endParaRPr lang="en-US"/>
          </a:p>
        </p:txBody>
      </p:sp>
      <p:sp>
        <p:nvSpPr>
          <p:cNvPr id="50" name="Text 47"/>
          <p:cNvSpPr/>
          <p:nvPr/>
        </p:nvSpPr>
        <p:spPr>
          <a:xfrm>
            <a:off x="9930384" y="2770632"/>
            <a:ext cx="1124712" cy="237744"/>
          </a:xfrm>
          <a:prstGeom prst="rect">
            <a:avLst/>
          </a:prstGeom>
          <a:noFill/>
          <a:ln/>
        </p:spPr>
        <p:txBody>
          <a:bodyPr wrap="square" lIns="0" tIns="0" rIns="0" bIns="0" rtlCol="0" anchor="ctr">
            <a:normAutofit/>
          </a:bodyPr>
          <a:lstStyle/>
          <a:p>
            <a:pPr marL="0" indent="0">
              <a:buNone/>
            </a:pPr>
            <a:r>
              <a:rPr lang="en-US" sz="950" dirty="0">
                <a:solidFill>
                  <a:srgbClr val="FFFFFF"/>
                </a:solidFill>
                <a:latin typeface="Calibri" pitchFamily="34" charset="0"/>
                <a:ea typeface="Calibri" pitchFamily="34" charset="-122"/>
                <a:cs typeface="Calibri" pitchFamily="34" charset="-120"/>
              </a:rPr>
              <a:t>0.4854</a:t>
            </a:r>
            <a:endParaRPr lang="en-US" sz="950" dirty="0"/>
          </a:p>
        </p:txBody>
      </p:sp>
      <p:sp>
        <p:nvSpPr>
          <p:cNvPr id="51" name="Shape 48"/>
          <p:cNvSpPr/>
          <p:nvPr/>
        </p:nvSpPr>
        <p:spPr>
          <a:xfrm>
            <a:off x="6172200" y="3493008"/>
            <a:ext cx="5120640" cy="960120"/>
          </a:xfrm>
          <a:prstGeom prst="roundRect">
            <a:avLst>
              <a:gd name="adj" fmla="val 11429"/>
            </a:avLst>
          </a:prstGeom>
          <a:solidFill>
            <a:srgbClr val="0D1F36"/>
          </a:solidFill>
          <a:ln w="11430">
            <a:solidFill>
              <a:srgbClr val="37D6E5">
                <a:alpha val="75000"/>
              </a:srgbClr>
            </a:solidFill>
            <a:prstDash val="solid"/>
          </a:ln>
        </p:spPr>
        <p:txBody>
          <a:bodyPr/>
          <a:lstStyle/>
          <a:p>
            <a:endParaRPr lang="en-US"/>
          </a:p>
        </p:txBody>
      </p:sp>
      <p:sp>
        <p:nvSpPr>
          <p:cNvPr id="52" name="Text 49"/>
          <p:cNvSpPr/>
          <p:nvPr/>
        </p:nvSpPr>
        <p:spPr>
          <a:xfrm>
            <a:off x="6336792" y="3621024"/>
            <a:ext cx="4791456" cy="228600"/>
          </a:xfrm>
          <a:prstGeom prst="rect">
            <a:avLst/>
          </a:prstGeom>
          <a:noFill/>
          <a:ln/>
        </p:spPr>
        <p:txBody>
          <a:bodyPr wrap="square" lIns="0" tIns="0" rIns="0" bIns="0" rtlCol="0" anchor="ctr"/>
          <a:lstStyle/>
          <a:p>
            <a:pPr marL="0" indent="0">
              <a:buNone/>
            </a:pPr>
            <a:r>
              <a:rPr lang="en-US" sz="1350" b="1" dirty="0">
                <a:solidFill>
                  <a:srgbClr val="37D6E5"/>
                </a:solidFill>
              </a:rPr>
              <a:t>Key interpretation</a:t>
            </a:r>
            <a:endParaRPr lang="en-US" sz="1350" dirty="0"/>
          </a:p>
        </p:txBody>
      </p:sp>
      <p:sp>
        <p:nvSpPr>
          <p:cNvPr id="53" name="Text 50"/>
          <p:cNvSpPr/>
          <p:nvPr/>
        </p:nvSpPr>
        <p:spPr>
          <a:xfrm>
            <a:off x="6336792" y="3931920"/>
            <a:ext cx="4791456" cy="411480"/>
          </a:xfrm>
          <a:prstGeom prst="rect">
            <a:avLst/>
          </a:prstGeom>
          <a:noFill/>
          <a:ln/>
        </p:spPr>
        <p:txBody>
          <a:bodyPr wrap="square" lIns="0" tIns="0" rIns="0" bIns="0" rtlCol="0" anchor="t">
            <a:normAutofit/>
          </a:bodyPr>
          <a:lstStyle/>
          <a:p>
            <a:pPr marL="0" indent="0">
              <a:buNone/>
            </a:pPr>
            <a:r>
              <a:rPr lang="en-US" sz="1220" dirty="0">
                <a:solidFill>
                  <a:srgbClr val="B8C6D8"/>
                </a:solidFill>
              </a:rPr>
              <a:t>GraphSAGE achieved slightly higher test accuracy and weighted F1. GCN achieved slightly higher macro F1 and a smaller generalization gap.</a:t>
            </a:r>
            <a:endParaRPr lang="en-US" sz="1220" dirty="0"/>
          </a:p>
        </p:txBody>
      </p:sp>
      <p:sp>
        <p:nvSpPr>
          <p:cNvPr id="54" name="Text 51"/>
          <p:cNvSpPr/>
          <p:nvPr/>
        </p:nvSpPr>
        <p:spPr>
          <a:xfrm>
            <a:off x="6172200" y="4892040"/>
            <a:ext cx="192024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0.0098</a:t>
            </a:r>
            <a:endParaRPr lang="en-US" sz="2500" dirty="0"/>
          </a:p>
        </p:txBody>
      </p:sp>
      <p:sp>
        <p:nvSpPr>
          <p:cNvPr id="55" name="Text 52"/>
          <p:cNvSpPr/>
          <p:nvPr/>
        </p:nvSpPr>
        <p:spPr>
          <a:xfrm>
            <a:off x="6172200" y="5330952"/>
            <a:ext cx="192024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GCN gap</a:t>
            </a:r>
            <a:endParaRPr lang="en-US" sz="950" dirty="0"/>
          </a:p>
        </p:txBody>
      </p:sp>
      <p:sp>
        <p:nvSpPr>
          <p:cNvPr id="56" name="Shape 53"/>
          <p:cNvSpPr/>
          <p:nvPr/>
        </p:nvSpPr>
        <p:spPr>
          <a:xfrm>
            <a:off x="6172200" y="5605272"/>
            <a:ext cx="1005840" cy="0"/>
          </a:xfrm>
          <a:prstGeom prst="line">
            <a:avLst/>
          </a:prstGeom>
          <a:noFill/>
          <a:ln w="20320">
            <a:solidFill>
              <a:srgbClr val="7DD181"/>
            </a:solidFill>
            <a:prstDash val="solid"/>
          </a:ln>
        </p:spPr>
        <p:txBody>
          <a:bodyPr/>
          <a:lstStyle/>
          <a:p>
            <a:endParaRPr lang="en-US"/>
          </a:p>
        </p:txBody>
      </p:sp>
      <p:sp>
        <p:nvSpPr>
          <p:cNvPr id="57" name="Text 54"/>
          <p:cNvSpPr/>
          <p:nvPr/>
        </p:nvSpPr>
        <p:spPr>
          <a:xfrm>
            <a:off x="8458200" y="4892040"/>
            <a:ext cx="2194560" cy="42062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0.0113</a:t>
            </a:r>
            <a:endParaRPr lang="en-US" sz="2500" dirty="0"/>
          </a:p>
        </p:txBody>
      </p:sp>
      <p:sp>
        <p:nvSpPr>
          <p:cNvPr id="58" name="Text 55"/>
          <p:cNvSpPr/>
          <p:nvPr/>
        </p:nvSpPr>
        <p:spPr>
          <a:xfrm>
            <a:off x="8458200" y="5330952"/>
            <a:ext cx="2194560" cy="201168"/>
          </a:xfrm>
          <a:prstGeom prst="rect">
            <a:avLst/>
          </a:prstGeom>
          <a:noFill/>
          <a:ln/>
        </p:spPr>
        <p:txBody>
          <a:bodyPr wrap="square" lIns="0" tIns="0" rIns="0" bIns="0" rtlCol="0" anchor="ctr"/>
          <a:lstStyle/>
          <a:p>
            <a:pPr marL="0" indent="0">
              <a:buNone/>
            </a:pPr>
            <a:r>
              <a:rPr lang="en-US" sz="950" dirty="0">
                <a:solidFill>
                  <a:srgbClr val="B8C6D8"/>
                </a:solidFill>
                <a:latin typeface="Calibri" pitchFamily="34" charset="0"/>
                <a:ea typeface="Calibri" pitchFamily="34" charset="-122"/>
                <a:cs typeface="Calibri" pitchFamily="34" charset="-120"/>
              </a:rPr>
              <a:t>GraphSAGE gap</a:t>
            </a:r>
            <a:endParaRPr lang="en-US" sz="950" dirty="0"/>
          </a:p>
        </p:txBody>
      </p:sp>
      <p:sp>
        <p:nvSpPr>
          <p:cNvPr id="59" name="Shape 56"/>
          <p:cNvSpPr/>
          <p:nvPr/>
        </p:nvSpPr>
        <p:spPr>
          <a:xfrm>
            <a:off x="8458200" y="5605272"/>
            <a:ext cx="1005840" cy="0"/>
          </a:xfrm>
          <a:prstGeom prst="line">
            <a:avLst/>
          </a:prstGeom>
          <a:noFill/>
          <a:ln w="20320">
            <a:solidFill>
              <a:srgbClr val="FFB703"/>
            </a:solidFill>
            <a:prstDash val="solid"/>
          </a:ln>
        </p:spPr>
        <p:txBody>
          <a:bodyPr/>
          <a:lstStyle/>
          <a:p>
            <a:endParaRPr lang="en-US"/>
          </a:p>
        </p:txBody>
      </p:sp>
      <p:sp>
        <p:nvSpPr>
          <p:cNvPr id="61" name="Text 57"/>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62" name="Text 58"/>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Explainability: what influenced predictions?</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PCA embeddings, neighborhood influence and edge ablation</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40080" y="1216152"/>
            <a:ext cx="3785616" cy="2779776"/>
          </a:xfrm>
          <a:prstGeom prst="roundRect">
            <a:avLst>
              <a:gd name="adj" fmla="val 2632"/>
            </a:avLst>
          </a:prstGeom>
          <a:solidFill>
            <a:srgbClr val="0E2037"/>
          </a:solidFill>
          <a:ln w="8890">
            <a:solidFill>
              <a:srgbClr val="23374F"/>
            </a:solidFill>
            <a:prstDash val="solid"/>
          </a:ln>
        </p:spPr>
        <p:txBody>
          <a:bodyPr/>
          <a:lstStyle/>
          <a:p>
            <a:endParaRPr lang="en-US"/>
          </a:p>
        </p:txBody>
      </p:sp>
      <p:pic>
        <p:nvPicPr>
          <p:cNvPr id="10" name="Image 0" descr="/mnt/data/extracted_report_images/p51_img1.png"/>
          <p:cNvPicPr>
            <a:picLocks noChangeAspect="1"/>
          </p:cNvPicPr>
          <p:nvPr/>
        </p:nvPicPr>
        <p:blipFill>
          <a:blip r:embed="rId3"/>
          <a:stretch>
            <a:fillRect/>
          </a:stretch>
        </p:blipFill>
        <p:spPr>
          <a:xfrm>
            <a:off x="757264" y="1234440"/>
            <a:ext cx="3551248" cy="2743200"/>
          </a:xfrm>
          <a:prstGeom prst="rect">
            <a:avLst/>
          </a:prstGeom>
        </p:spPr>
      </p:pic>
      <p:sp>
        <p:nvSpPr>
          <p:cNvPr id="11" name="Shape 8"/>
          <p:cNvSpPr/>
          <p:nvPr/>
        </p:nvSpPr>
        <p:spPr>
          <a:xfrm>
            <a:off x="4599432" y="1216152"/>
            <a:ext cx="3282696" cy="2779776"/>
          </a:xfrm>
          <a:prstGeom prst="roundRect">
            <a:avLst>
              <a:gd name="adj" fmla="val 2632"/>
            </a:avLst>
          </a:prstGeom>
          <a:solidFill>
            <a:srgbClr val="0E2037"/>
          </a:solidFill>
          <a:ln w="8890">
            <a:solidFill>
              <a:srgbClr val="23374F"/>
            </a:solidFill>
            <a:prstDash val="solid"/>
          </a:ln>
        </p:spPr>
        <p:txBody>
          <a:bodyPr/>
          <a:lstStyle/>
          <a:p>
            <a:endParaRPr lang="en-US"/>
          </a:p>
        </p:txBody>
      </p:sp>
      <p:pic>
        <p:nvPicPr>
          <p:cNvPr id="12" name="Image 1" descr="/mnt/data/extracted_report_images/p53_img1.png"/>
          <p:cNvPicPr>
            <a:picLocks noChangeAspect="1"/>
          </p:cNvPicPr>
          <p:nvPr/>
        </p:nvPicPr>
        <p:blipFill>
          <a:blip r:embed="rId4"/>
          <a:stretch>
            <a:fillRect/>
          </a:stretch>
        </p:blipFill>
        <p:spPr>
          <a:xfrm>
            <a:off x="4617720" y="1730317"/>
            <a:ext cx="3246120" cy="1751447"/>
          </a:xfrm>
          <a:prstGeom prst="rect">
            <a:avLst/>
          </a:prstGeom>
        </p:spPr>
      </p:pic>
      <p:sp>
        <p:nvSpPr>
          <p:cNvPr id="13" name="Shape 9"/>
          <p:cNvSpPr/>
          <p:nvPr/>
        </p:nvSpPr>
        <p:spPr>
          <a:xfrm>
            <a:off x="8074152" y="1216152"/>
            <a:ext cx="3282696" cy="2779776"/>
          </a:xfrm>
          <a:prstGeom prst="roundRect">
            <a:avLst>
              <a:gd name="adj" fmla="val 2632"/>
            </a:avLst>
          </a:prstGeom>
          <a:solidFill>
            <a:srgbClr val="0E2037"/>
          </a:solidFill>
          <a:ln w="8890">
            <a:solidFill>
              <a:srgbClr val="23374F"/>
            </a:solidFill>
            <a:prstDash val="solid"/>
          </a:ln>
        </p:spPr>
        <p:txBody>
          <a:bodyPr/>
          <a:lstStyle/>
          <a:p>
            <a:endParaRPr lang="en-US"/>
          </a:p>
        </p:txBody>
      </p:sp>
      <p:pic>
        <p:nvPicPr>
          <p:cNvPr id="14" name="Image 2" descr="/mnt/data/extracted_report_images/p55_img1.png"/>
          <p:cNvPicPr>
            <a:picLocks noChangeAspect="1"/>
          </p:cNvPicPr>
          <p:nvPr/>
        </p:nvPicPr>
        <p:blipFill>
          <a:blip r:embed="rId5"/>
          <a:stretch>
            <a:fillRect/>
          </a:stretch>
        </p:blipFill>
        <p:spPr>
          <a:xfrm>
            <a:off x="8092440" y="1456901"/>
            <a:ext cx="3246120" cy="2298278"/>
          </a:xfrm>
          <a:prstGeom prst="rect">
            <a:avLst/>
          </a:prstGeom>
        </p:spPr>
      </p:pic>
      <p:sp>
        <p:nvSpPr>
          <p:cNvPr id="15" name="Shape 10"/>
          <p:cNvSpPr/>
          <p:nvPr/>
        </p:nvSpPr>
        <p:spPr>
          <a:xfrm>
            <a:off x="868680" y="4407408"/>
            <a:ext cx="5166360" cy="960120"/>
          </a:xfrm>
          <a:prstGeom prst="roundRect">
            <a:avLst>
              <a:gd name="adj" fmla="val 11429"/>
            </a:avLst>
          </a:prstGeom>
          <a:solidFill>
            <a:srgbClr val="0D1F36"/>
          </a:solidFill>
          <a:ln w="11430">
            <a:solidFill>
              <a:srgbClr val="37D6E5">
                <a:alpha val="75000"/>
              </a:srgbClr>
            </a:solidFill>
            <a:prstDash val="solid"/>
          </a:ln>
        </p:spPr>
        <p:txBody>
          <a:bodyPr/>
          <a:lstStyle/>
          <a:p>
            <a:endParaRPr lang="en-US"/>
          </a:p>
        </p:txBody>
      </p:sp>
      <p:sp>
        <p:nvSpPr>
          <p:cNvPr id="16" name="Text 11"/>
          <p:cNvSpPr/>
          <p:nvPr/>
        </p:nvSpPr>
        <p:spPr>
          <a:xfrm>
            <a:off x="1033272" y="4535424"/>
            <a:ext cx="4837176" cy="228600"/>
          </a:xfrm>
          <a:prstGeom prst="rect">
            <a:avLst/>
          </a:prstGeom>
          <a:noFill/>
          <a:ln/>
        </p:spPr>
        <p:txBody>
          <a:bodyPr wrap="square" lIns="0" tIns="0" rIns="0" bIns="0" rtlCol="0" anchor="ctr"/>
          <a:lstStyle/>
          <a:p>
            <a:pPr marL="0" indent="0">
              <a:buNone/>
            </a:pPr>
            <a:r>
              <a:rPr lang="en-US" sz="1350" b="1" dirty="0">
                <a:solidFill>
                  <a:srgbClr val="37D6E5"/>
                </a:solidFill>
              </a:rPr>
              <a:t>Selected node insight</a:t>
            </a:r>
            <a:endParaRPr lang="en-US" sz="1350" dirty="0"/>
          </a:p>
        </p:txBody>
      </p:sp>
      <p:sp>
        <p:nvSpPr>
          <p:cNvPr id="17" name="Text 12"/>
          <p:cNvSpPr/>
          <p:nvPr/>
        </p:nvSpPr>
        <p:spPr>
          <a:xfrm>
            <a:off x="1033272" y="4846320"/>
            <a:ext cx="4837176" cy="411480"/>
          </a:xfrm>
          <a:prstGeom prst="rect">
            <a:avLst/>
          </a:prstGeom>
          <a:noFill/>
          <a:ln/>
        </p:spPr>
        <p:txBody>
          <a:bodyPr wrap="square" lIns="0" tIns="0" rIns="0" bIns="0" rtlCol="0" anchor="t">
            <a:normAutofit/>
          </a:bodyPr>
          <a:lstStyle/>
          <a:p>
            <a:pPr marL="0" indent="0">
              <a:buNone/>
            </a:pPr>
            <a:r>
              <a:rPr lang="en-US" sz="1220" dirty="0">
                <a:solidFill>
                  <a:srgbClr val="B8C6D8"/>
                </a:solidFill>
              </a:rPr>
              <a:t>Node 160484 was correctly classified as class 16. 155 out of 157 neighbors matched the predicted class, giving a same-class ratio of 0.9873.</a:t>
            </a:r>
            <a:endParaRPr lang="en-US" sz="1220" dirty="0"/>
          </a:p>
        </p:txBody>
      </p:sp>
      <p:sp>
        <p:nvSpPr>
          <p:cNvPr id="18" name="Shape 13"/>
          <p:cNvSpPr/>
          <p:nvPr/>
        </p:nvSpPr>
        <p:spPr>
          <a:xfrm>
            <a:off x="6355080" y="4407408"/>
            <a:ext cx="4892040" cy="1097280"/>
          </a:xfrm>
          <a:prstGeom prst="roundRect">
            <a:avLst>
              <a:gd name="adj" fmla="val 10000"/>
            </a:avLst>
          </a:prstGeom>
          <a:solidFill>
            <a:srgbClr val="0D1F36"/>
          </a:solidFill>
          <a:ln w="11430">
            <a:solidFill>
              <a:srgbClr val="FFB703">
                <a:alpha val="75000"/>
              </a:srgbClr>
            </a:solidFill>
            <a:prstDash val="solid"/>
          </a:ln>
        </p:spPr>
        <p:txBody>
          <a:bodyPr/>
          <a:lstStyle/>
          <a:p>
            <a:endParaRPr lang="en-US"/>
          </a:p>
        </p:txBody>
      </p:sp>
      <p:sp>
        <p:nvSpPr>
          <p:cNvPr id="19" name="Text 14"/>
          <p:cNvSpPr/>
          <p:nvPr/>
        </p:nvSpPr>
        <p:spPr>
          <a:xfrm>
            <a:off x="6519672" y="4535424"/>
            <a:ext cx="4562856" cy="228600"/>
          </a:xfrm>
          <a:prstGeom prst="rect">
            <a:avLst/>
          </a:prstGeom>
          <a:noFill/>
          <a:ln/>
        </p:spPr>
        <p:txBody>
          <a:bodyPr wrap="square" lIns="0" tIns="0" rIns="0" bIns="0" rtlCol="0" anchor="ctr"/>
          <a:lstStyle/>
          <a:p>
            <a:pPr marL="0" indent="0">
              <a:buNone/>
            </a:pPr>
            <a:r>
              <a:rPr lang="en-US" sz="1350" b="1" dirty="0">
                <a:solidFill>
                  <a:srgbClr val="FFB703"/>
                </a:solidFill>
              </a:rPr>
              <a:t>Edge ablation result</a:t>
            </a:r>
            <a:endParaRPr lang="en-US" sz="1350" dirty="0"/>
          </a:p>
        </p:txBody>
      </p:sp>
      <p:sp>
        <p:nvSpPr>
          <p:cNvPr id="20" name="Text 15"/>
          <p:cNvSpPr/>
          <p:nvPr/>
        </p:nvSpPr>
        <p:spPr>
          <a:xfrm>
            <a:off x="6519672" y="4846320"/>
            <a:ext cx="4562856" cy="548640"/>
          </a:xfrm>
          <a:prstGeom prst="rect">
            <a:avLst/>
          </a:prstGeom>
          <a:noFill/>
          <a:ln/>
        </p:spPr>
        <p:txBody>
          <a:bodyPr wrap="square" lIns="0" tIns="0" rIns="0" bIns="0" rtlCol="0" anchor="t">
            <a:normAutofit lnSpcReduction="10000"/>
          </a:bodyPr>
          <a:lstStyle/>
          <a:p>
            <a:pPr marL="0" indent="0">
              <a:buNone/>
            </a:pPr>
            <a:r>
              <a:rPr lang="en-US" sz="1220" dirty="0">
                <a:solidFill>
                  <a:srgbClr val="B8C6D8"/>
                </a:solidFill>
              </a:rPr>
              <a:t>After removing neighborhood edges, the prediction remained class 16, but confidence reduced from 1.0000 to 0.9773. This shows both node features and graph context support the prediction.</a:t>
            </a:r>
            <a:endParaRPr lang="en-US" sz="1220" dirty="0"/>
          </a:p>
        </p:txBody>
      </p:sp>
      <p:sp>
        <p:nvSpPr>
          <p:cNvPr id="22" name="Text 16"/>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23" name="Text 17"/>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Streamlit Graph Intelligence Dashboard</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Interactive presentation of graph statistics, model results and embeddings</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606040" cy="274320"/>
          </a:xfrm>
          <a:prstGeom prst="rect">
            <a:avLst/>
          </a:prstGeom>
          <a:noFill/>
          <a:ln/>
        </p:spPr>
        <p:txBody>
          <a:bodyPr wrap="square" lIns="0" tIns="0" rIns="0" bIns="0" rtlCol="0" anchor="ctr"/>
          <a:lstStyle/>
          <a:p>
            <a:pPr marL="0" indent="0" algn="r">
              <a:buNone/>
            </a:pPr>
            <a:endParaRPr lang="en-US" sz="1050" dirty="0"/>
          </a:p>
        </p:txBody>
      </p:sp>
      <p:sp>
        <p:nvSpPr>
          <p:cNvPr id="9" name="Shape 7"/>
          <p:cNvSpPr/>
          <p:nvPr/>
        </p:nvSpPr>
        <p:spPr>
          <a:xfrm>
            <a:off x="640080" y="1170432"/>
            <a:ext cx="351129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0" name="Image 0" descr="/mnt/data/extracted_report_images/p59_img1.png"/>
          <p:cNvPicPr>
            <a:picLocks noChangeAspect="1"/>
          </p:cNvPicPr>
          <p:nvPr/>
        </p:nvPicPr>
        <p:blipFill>
          <a:blip r:embed="rId3"/>
          <a:srcRect l="291" r="291"/>
          <a:stretch/>
        </p:blipFill>
        <p:spPr>
          <a:xfrm>
            <a:off x="658368" y="1188720"/>
            <a:ext cx="3474720" cy="1965960"/>
          </a:xfrm>
          <a:prstGeom prst="rect">
            <a:avLst/>
          </a:prstGeom>
        </p:spPr>
      </p:pic>
      <p:sp>
        <p:nvSpPr>
          <p:cNvPr id="11" name="Shape 8"/>
          <p:cNvSpPr/>
          <p:nvPr/>
        </p:nvSpPr>
        <p:spPr>
          <a:xfrm>
            <a:off x="4416552" y="1170432"/>
            <a:ext cx="351129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2" name="Image 1" descr="/mnt/data/extracted_report_images/p60_img1.png"/>
          <p:cNvPicPr>
            <a:picLocks noChangeAspect="1"/>
          </p:cNvPicPr>
          <p:nvPr/>
        </p:nvPicPr>
        <p:blipFill>
          <a:blip r:embed="rId4"/>
          <a:srcRect l="291" r="291"/>
          <a:stretch/>
        </p:blipFill>
        <p:spPr>
          <a:xfrm>
            <a:off x="4434840" y="1188720"/>
            <a:ext cx="3474720" cy="1965960"/>
          </a:xfrm>
          <a:prstGeom prst="rect">
            <a:avLst/>
          </a:prstGeom>
        </p:spPr>
      </p:pic>
      <p:sp>
        <p:nvSpPr>
          <p:cNvPr id="13" name="Shape 9"/>
          <p:cNvSpPr/>
          <p:nvPr/>
        </p:nvSpPr>
        <p:spPr>
          <a:xfrm>
            <a:off x="8193024" y="1170432"/>
            <a:ext cx="351129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4" name="Image 2" descr="/mnt/data/extracted_report_images/p61_img1.png"/>
          <p:cNvPicPr>
            <a:picLocks noChangeAspect="1"/>
          </p:cNvPicPr>
          <p:nvPr/>
        </p:nvPicPr>
        <p:blipFill>
          <a:blip r:embed="rId5"/>
          <a:srcRect l="291" r="291"/>
          <a:stretch/>
        </p:blipFill>
        <p:spPr>
          <a:xfrm>
            <a:off x="8211312" y="1188720"/>
            <a:ext cx="3474720" cy="1965960"/>
          </a:xfrm>
          <a:prstGeom prst="rect">
            <a:avLst/>
          </a:prstGeom>
        </p:spPr>
      </p:pic>
      <p:sp>
        <p:nvSpPr>
          <p:cNvPr id="15" name="Shape 10"/>
          <p:cNvSpPr/>
          <p:nvPr/>
        </p:nvSpPr>
        <p:spPr>
          <a:xfrm>
            <a:off x="640080" y="3867912"/>
            <a:ext cx="351129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6" name="Image 3" descr="/mnt/data/extracted_report_images/p62_img1.png"/>
          <p:cNvPicPr>
            <a:picLocks noChangeAspect="1"/>
          </p:cNvPicPr>
          <p:nvPr/>
        </p:nvPicPr>
        <p:blipFill>
          <a:blip r:embed="rId6"/>
          <a:srcRect l="291" r="291"/>
          <a:stretch/>
        </p:blipFill>
        <p:spPr>
          <a:xfrm>
            <a:off x="658368" y="3886200"/>
            <a:ext cx="3474720" cy="1965960"/>
          </a:xfrm>
          <a:prstGeom prst="rect">
            <a:avLst/>
          </a:prstGeom>
        </p:spPr>
      </p:pic>
      <p:sp>
        <p:nvSpPr>
          <p:cNvPr id="17" name="Shape 11"/>
          <p:cNvSpPr/>
          <p:nvPr/>
        </p:nvSpPr>
        <p:spPr>
          <a:xfrm>
            <a:off x="4416552" y="3867912"/>
            <a:ext cx="3511296" cy="2002536"/>
          </a:xfrm>
          <a:prstGeom prst="roundRect">
            <a:avLst>
              <a:gd name="adj" fmla="val 3653"/>
            </a:avLst>
          </a:prstGeom>
          <a:solidFill>
            <a:srgbClr val="0E2037"/>
          </a:solidFill>
          <a:ln w="8890">
            <a:solidFill>
              <a:srgbClr val="23374F"/>
            </a:solidFill>
            <a:prstDash val="solid"/>
          </a:ln>
        </p:spPr>
        <p:txBody>
          <a:bodyPr/>
          <a:lstStyle/>
          <a:p>
            <a:endParaRPr lang="en-US"/>
          </a:p>
        </p:txBody>
      </p:sp>
      <p:pic>
        <p:nvPicPr>
          <p:cNvPr id="18" name="Image 4" descr="/mnt/data/extracted_report_images/p63_img1.png"/>
          <p:cNvPicPr>
            <a:picLocks noChangeAspect="1"/>
          </p:cNvPicPr>
          <p:nvPr/>
        </p:nvPicPr>
        <p:blipFill>
          <a:blip r:embed="rId7"/>
          <a:stretch>
            <a:fillRect/>
          </a:stretch>
        </p:blipFill>
        <p:spPr>
          <a:xfrm>
            <a:off x="4898059" y="3886200"/>
            <a:ext cx="2548282" cy="1965960"/>
          </a:xfrm>
          <a:prstGeom prst="rect">
            <a:avLst/>
          </a:prstGeom>
        </p:spPr>
      </p:pic>
      <p:sp>
        <p:nvSpPr>
          <p:cNvPr id="19" name="Shape 12"/>
          <p:cNvSpPr/>
          <p:nvPr/>
        </p:nvSpPr>
        <p:spPr>
          <a:xfrm>
            <a:off x="8275320" y="3931920"/>
            <a:ext cx="3246120" cy="1325880"/>
          </a:xfrm>
          <a:prstGeom prst="roundRect">
            <a:avLst>
              <a:gd name="adj" fmla="val 8276"/>
            </a:avLst>
          </a:prstGeom>
          <a:solidFill>
            <a:srgbClr val="0D1F36"/>
          </a:solidFill>
          <a:ln w="11430">
            <a:solidFill>
              <a:srgbClr val="37D6E5">
                <a:alpha val="75000"/>
              </a:srgbClr>
            </a:solidFill>
            <a:prstDash val="solid"/>
          </a:ln>
        </p:spPr>
        <p:txBody>
          <a:bodyPr/>
          <a:lstStyle/>
          <a:p>
            <a:endParaRPr lang="en-US"/>
          </a:p>
        </p:txBody>
      </p:sp>
      <p:sp>
        <p:nvSpPr>
          <p:cNvPr id="20" name="Text 13"/>
          <p:cNvSpPr/>
          <p:nvPr/>
        </p:nvSpPr>
        <p:spPr>
          <a:xfrm>
            <a:off x="8439912" y="4059936"/>
            <a:ext cx="2916936" cy="228600"/>
          </a:xfrm>
          <a:prstGeom prst="rect">
            <a:avLst/>
          </a:prstGeom>
          <a:noFill/>
          <a:ln/>
        </p:spPr>
        <p:txBody>
          <a:bodyPr wrap="square" lIns="0" tIns="0" rIns="0" bIns="0" rtlCol="0" anchor="ctr"/>
          <a:lstStyle/>
          <a:p>
            <a:pPr marL="0" indent="0">
              <a:buNone/>
            </a:pPr>
            <a:r>
              <a:rPr lang="en-US" sz="1350" b="1" dirty="0">
                <a:solidFill>
                  <a:srgbClr val="37D6E5"/>
                </a:solidFill>
              </a:rPr>
              <a:t>Dashboard design</a:t>
            </a:r>
            <a:endParaRPr lang="en-US" sz="1350" dirty="0"/>
          </a:p>
        </p:txBody>
      </p:sp>
      <p:sp>
        <p:nvSpPr>
          <p:cNvPr id="21" name="Text 14"/>
          <p:cNvSpPr/>
          <p:nvPr/>
        </p:nvSpPr>
        <p:spPr>
          <a:xfrm>
            <a:off x="8439912" y="4370832"/>
            <a:ext cx="2916936" cy="777240"/>
          </a:xfrm>
          <a:prstGeom prst="rect">
            <a:avLst/>
          </a:prstGeom>
          <a:noFill/>
          <a:ln/>
        </p:spPr>
        <p:txBody>
          <a:bodyPr wrap="square" lIns="0" tIns="0" rIns="0" bIns="0" rtlCol="0" anchor="t">
            <a:normAutofit/>
          </a:bodyPr>
          <a:lstStyle/>
          <a:p>
            <a:pPr marL="0" indent="0">
              <a:buNone/>
            </a:pPr>
            <a:r>
              <a:rPr lang="en-US" sz="1220" dirty="0">
                <a:solidFill>
                  <a:srgbClr val="B8C6D8"/>
                </a:solidFill>
              </a:rPr>
              <a:t>The app loads exported JSON, CSV and image files rather than retraining models. This makes it lightweight and suitable for demonstration.</a:t>
            </a:r>
            <a:endParaRPr lang="en-US" sz="1220" dirty="0"/>
          </a:p>
        </p:txBody>
      </p:sp>
      <p:sp>
        <p:nvSpPr>
          <p:cNvPr id="23" name="Text 15"/>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24" name="Text 16"/>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Key findings</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What the experiments showed</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8" name="Text 6"/>
          <p:cNvSpPr/>
          <p:nvPr/>
        </p:nvSpPr>
        <p:spPr>
          <a:xfrm>
            <a:off x="9098280" y="338328"/>
            <a:ext cx="2560320" cy="274320"/>
          </a:xfrm>
          <a:prstGeom prst="rect">
            <a:avLst/>
          </a:prstGeom>
          <a:noFill/>
          <a:ln/>
        </p:spPr>
        <p:txBody>
          <a:bodyPr wrap="square" lIns="0" tIns="0" rIns="0" bIns="0" rtlCol="0" anchor="ctr"/>
          <a:lstStyle/>
          <a:p>
            <a:pPr algn="r"/>
            <a:endParaRPr lang="en-US" sz="1050" dirty="0"/>
          </a:p>
        </p:txBody>
      </p:sp>
      <p:sp>
        <p:nvSpPr>
          <p:cNvPr id="9" name="Shape 7"/>
          <p:cNvSpPr/>
          <p:nvPr/>
        </p:nvSpPr>
        <p:spPr>
          <a:xfrm>
            <a:off x="731520" y="132588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10" name="Text 8"/>
          <p:cNvSpPr/>
          <p:nvPr/>
        </p:nvSpPr>
        <p:spPr>
          <a:xfrm>
            <a:off x="914400" y="152704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01</a:t>
            </a:r>
            <a:endParaRPr lang="en-US" sz="1800" dirty="0"/>
          </a:p>
        </p:txBody>
      </p:sp>
      <p:sp>
        <p:nvSpPr>
          <p:cNvPr id="11" name="Text 9"/>
          <p:cNvSpPr/>
          <p:nvPr/>
        </p:nvSpPr>
        <p:spPr>
          <a:xfrm>
            <a:off x="1508760" y="146304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Graph structure matters</a:t>
            </a:r>
            <a:endParaRPr lang="en-US" sz="1420" dirty="0"/>
          </a:p>
        </p:txBody>
      </p:sp>
      <p:sp>
        <p:nvSpPr>
          <p:cNvPr id="12" name="Text 10"/>
          <p:cNvSpPr/>
          <p:nvPr/>
        </p:nvSpPr>
        <p:spPr>
          <a:xfrm>
            <a:off x="1508760" y="1764792"/>
            <a:ext cx="3886200" cy="310896"/>
          </a:xfrm>
          <a:prstGeom prst="rect">
            <a:avLst/>
          </a:prstGeom>
          <a:noFill/>
          <a:ln/>
        </p:spPr>
        <p:txBody>
          <a:bodyPr wrap="square" lIns="0" tIns="0" rIns="0" bIns="0" rtlCol="0" anchor="ctr">
            <a:normAutofit lnSpcReduction="10000"/>
          </a:bodyPr>
          <a:lstStyle/>
          <a:p>
            <a:pPr marL="0" indent="0">
              <a:buNone/>
            </a:pPr>
            <a:r>
              <a:rPr lang="en-US" sz="1070" dirty="0">
                <a:solidFill>
                  <a:srgbClr val="B8C6D8"/>
                </a:solidFill>
              </a:rPr>
              <a:t>Citation edges provide useful neighborhood context beyond text-derived node features.</a:t>
            </a:r>
            <a:endParaRPr lang="en-US" sz="1070" dirty="0"/>
          </a:p>
        </p:txBody>
      </p:sp>
      <p:sp>
        <p:nvSpPr>
          <p:cNvPr id="13" name="Shape 11"/>
          <p:cNvSpPr/>
          <p:nvPr/>
        </p:nvSpPr>
        <p:spPr>
          <a:xfrm>
            <a:off x="6217920" y="132588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14" name="Text 12"/>
          <p:cNvSpPr/>
          <p:nvPr/>
        </p:nvSpPr>
        <p:spPr>
          <a:xfrm>
            <a:off x="6400800" y="152704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02</a:t>
            </a:r>
            <a:endParaRPr lang="en-US" sz="1800" dirty="0"/>
          </a:p>
        </p:txBody>
      </p:sp>
      <p:sp>
        <p:nvSpPr>
          <p:cNvPr id="15" name="Text 13"/>
          <p:cNvSpPr/>
          <p:nvPr/>
        </p:nvSpPr>
        <p:spPr>
          <a:xfrm>
            <a:off x="6995160" y="146304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Class imbalance affects evaluation</a:t>
            </a:r>
            <a:endParaRPr lang="en-US" sz="1420" dirty="0"/>
          </a:p>
        </p:txBody>
      </p:sp>
      <p:sp>
        <p:nvSpPr>
          <p:cNvPr id="16" name="Text 14"/>
          <p:cNvSpPr/>
          <p:nvPr/>
        </p:nvSpPr>
        <p:spPr>
          <a:xfrm>
            <a:off x="6995160" y="1764792"/>
            <a:ext cx="3886200" cy="310896"/>
          </a:xfrm>
          <a:prstGeom prst="rect">
            <a:avLst/>
          </a:prstGeom>
          <a:noFill/>
          <a:ln/>
        </p:spPr>
        <p:txBody>
          <a:bodyPr wrap="square" lIns="0" tIns="0" rIns="0" bIns="0" rtlCol="0" anchor="ctr">
            <a:normAutofit lnSpcReduction="10000"/>
          </a:bodyPr>
          <a:lstStyle/>
          <a:p>
            <a:pPr marL="0" indent="0">
              <a:buNone/>
            </a:pPr>
            <a:r>
              <a:rPr lang="en-US" sz="1070" dirty="0">
                <a:solidFill>
                  <a:srgbClr val="B8C6D8"/>
                </a:solidFill>
              </a:rPr>
              <a:t>Macro F1 is lower than weighted F1, showing minority classes are harder to classify.</a:t>
            </a:r>
            <a:endParaRPr lang="en-US" sz="1070" dirty="0"/>
          </a:p>
        </p:txBody>
      </p:sp>
      <p:sp>
        <p:nvSpPr>
          <p:cNvPr id="17" name="Shape 15"/>
          <p:cNvSpPr/>
          <p:nvPr/>
        </p:nvSpPr>
        <p:spPr>
          <a:xfrm>
            <a:off x="731520" y="265176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18" name="Text 16"/>
          <p:cNvSpPr/>
          <p:nvPr/>
        </p:nvSpPr>
        <p:spPr>
          <a:xfrm>
            <a:off x="914400" y="285292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03</a:t>
            </a:r>
            <a:endParaRPr lang="en-US" sz="1800" dirty="0"/>
          </a:p>
        </p:txBody>
      </p:sp>
      <p:sp>
        <p:nvSpPr>
          <p:cNvPr id="19" name="Text 17"/>
          <p:cNvSpPr/>
          <p:nvPr/>
        </p:nvSpPr>
        <p:spPr>
          <a:xfrm>
            <a:off x="1508760" y="278892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Tuning improves both GNNs</a:t>
            </a:r>
            <a:endParaRPr lang="en-US" sz="1420" dirty="0"/>
          </a:p>
        </p:txBody>
      </p:sp>
      <p:sp>
        <p:nvSpPr>
          <p:cNvPr id="20" name="Text 18"/>
          <p:cNvSpPr/>
          <p:nvPr/>
        </p:nvSpPr>
        <p:spPr>
          <a:xfrm>
            <a:off x="1508760" y="3090672"/>
            <a:ext cx="3886200" cy="310896"/>
          </a:xfrm>
          <a:prstGeom prst="rect">
            <a:avLst/>
          </a:prstGeom>
          <a:noFill/>
          <a:ln/>
        </p:spPr>
        <p:txBody>
          <a:bodyPr wrap="square" lIns="0" tIns="0" rIns="0" bIns="0" rtlCol="0" anchor="ctr">
            <a:normAutofit lnSpcReduction="10000"/>
          </a:bodyPr>
          <a:lstStyle/>
          <a:p>
            <a:pPr marL="0" indent="0">
              <a:buNone/>
            </a:pPr>
            <a:r>
              <a:rPr lang="en-US" sz="1070" dirty="0">
                <a:solidFill>
                  <a:srgbClr val="B8C6D8"/>
                </a:solidFill>
              </a:rPr>
              <a:t>A 3-layer, 128-hidden configuration with LR 0.005 produced the best tested performance.</a:t>
            </a:r>
            <a:endParaRPr lang="en-US" sz="1070" dirty="0"/>
          </a:p>
        </p:txBody>
      </p:sp>
      <p:sp>
        <p:nvSpPr>
          <p:cNvPr id="21" name="Shape 19"/>
          <p:cNvSpPr/>
          <p:nvPr/>
        </p:nvSpPr>
        <p:spPr>
          <a:xfrm>
            <a:off x="6217920" y="265176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22" name="Text 20"/>
          <p:cNvSpPr/>
          <p:nvPr/>
        </p:nvSpPr>
        <p:spPr>
          <a:xfrm>
            <a:off x="6400800" y="285292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04</a:t>
            </a:r>
            <a:endParaRPr lang="en-US" sz="1800" dirty="0"/>
          </a:p>
        </p:txBody>
      </p:sp>
      <p:sp>
        <p:nvSpPr>
          <p:cNvPr id="23" name="Text 21"/>
          <p:cNvSpPr/>
          <p:nvPr/>
        </p:nvSpPr>
        <p:spPr>
          <a:xfrm>
            <a:off x="6995160" y="278892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GraphSAGE slightly leads overall</a:t>
            </a:r>
            <a:endParaRPr lang="en-US" sz="1420" dirty="0"/>
          </a:p>
        </p:txBody>
      </p:sp>
      <p:sp>
        <p:nvSpPr>
          <p:cNvPr id="24" name="Text 22"/>
          <p:cNvSpPr/>
          <p:nvPr/>
        </p:nvSpPr>
        <p:spPr>
          <a:xfrm>
            <a:off x="6995160" y="3090672"/>
            <a:ext cx="3886200" cy="310896"/>
          </a:xfrm>
          <a:prstGeom prst="rect">
            <a:avLst/>
          </a:prstGeom>
          <a:noFill/>
          <a:ln/>
        </p:spPr>
        <p:txBody>
          <a:bodyPr wrap="square" lIns="0" tIns="0" rIns="0" bIns="0" rtlCol="0" anchor="ctr">
            <a:normAutofit/>
          </a:bodyPr>
          <a:lstStyle/>
          <a:p>
            <a:pPr marL="0" indent="0">
              <a:buNone/>
            </a:pPr>
            <a:r>
              <a:rPr lang="en-US" sz="1070" dirty="0">
                <a:solidFill>
                  <a:srgbClr val="B8C6D8"/>
                </a:solidFill>
              </a:rPr>
              <a:t>GraphSAGE had slightly higher test accuracy and weighted F1.</a:t>
            </a:r>
            <a:endParaRPr lang="en-US" sz="1070" dirty="0"/>
          </a:p>
        </p:txBody>
      </p:sp>
      <p:sp>
        <p:nvSpPr>
          <p:cNvPr id="25" name="Shape 23"/>
          <p:cNvSpPr/>
          <p:nvPr/>
        </p:nvSpPr>
        <p:spPr>
          <a:xfrm>
            <a:off x="731520" y="397764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26" name="Text 24"/>
          <p:cNvSpPr/>
          <p:nvPr/>
        </p:nvSpPr>
        <p:spPr>
          <a:xfrm>
            <a:off x="914400" y="417880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05</a:t>
            </a:r>
            <a:endParaRPr lang="en-US" sz="1800" dirty="0"/>
          </a:p>
        </p:txBody>
      </p:sp>
      <p:sp>
        <p:nvSpPr>
          <p:cNvPr id="27" name="Text 25"/>
          <p:cNvSpPr/>
          <p:nvPr/>
        </p:nvSpPr>
        <p:spPr>
          <a:xfrm>
            <a:off x="1508760" y="411480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GCN is more class-balanced</a:t>
            </a:r>
            <a:endParaRPr lang="en-US" sz="1420" dirty="0"/>
          </a:p>
        </p:txBody>
      </p:sp>
      <p:sp>
        <p:nvSpPr>
          <p:cNvPr id="28" name="Text 26"/>
          <p:cNvSpPr/>
          <p:nvPr/>
        </p:nvSpPr>
        <p:spPr>
          <a:xfrm>
            <a:off x="1508760" y="4416552"/>
            <a:ext cx="3886200" cy="310896"/>
          </a:xfrm>
          <a:prstGeom prst="rect">
            <a:avLst/>
          </a:prstGeom>
          <a:noFill/>
          <a:ln/>
        </p:spPr>
        <p:txBody>
          <a:bodyPr wrap="square" lIns="0" tIns="0" rIns="0" bIns="0" rtlCol="0" anchor="ctr">
            <a:normAutofit lnSpcReduction="10000"/>
          </a:bodyPr>
          <a:lstStyle/>
          <a:p>
            <a:pPr marL="0" indent="0">
              <a:buNone/>
            </a:pPr>
            <a:r>
              <a:rPr lang="en-US" sz="1070" dirty="0">
                <a:solidFill>
                  <a:srgbClr val="B8C6D8"/>
                </a:solidFill>
              </a:rPr>
              <a:t>GCN achieved slightly higher macro F1 and a smaller generalization gap.</a:t>
            </a:r>
            <a:endParaRPr lang="en-US" sz="1070" dirty="0"/>
          </a:p>
        </p:txBody>
      </p:sp>
      <p:sp>
        <p:nvSpPr>
          <p:cNvPr id="29" name="Shape 27"/>
          <p:cNvSpPr/>
          <p:nvPr/>
        </p:nvSpPr>
        <p:spPr>
          <a:xfrm>
            <a:off x="6217920" y="3977640"/>
            <a:ext cx="4846320" cy="960120"/>
          </a:xfrm>
          <a:prstGeom prst="roundRect">
            <a:avLst>
              <a:gd name="adj" fmla="val 9524"/>
            </a:avLst>
          </a:prstGeom>
          <a:solidFill>
            <a:srgbClr val="0D1F36"/>
          </a:solidFill>
          <a:ln w="7620">
            <a:solidFill>
              <a:srgbClr val="23374F"/>
            </a:solidFill>
            <a:prstDash val="solid"/>
          </a:ln>
        </p:spPr>
        <p:txBody>
          <a:bodyPr/>
          <a:lstStyle/>
          <a:p>
            <a:endParaRPr lang="en-US"/>
          </a:p>
        </p:txBody>
      </p:sp>
      <p:sp>
        <p:nvSpPr>
          <p:cNvPr id="30" name="Text 28"/>
          <p:cNvSpPr/>
          <p:nvPr/>
        </p:nvSpPr>
        <p:spPr>
          <a:xfrm>
            <a:off x="6400800" y="4178808"/>
            <a:ext cx="475488" cy="292608"/>
          </a:xfrm>
          <a:prstGeom prst="rect">
            <a:avLst/>
          </a:prstGeom>
          <a:noFill/>
          <a:ln/>
        </p:spPr>
        <p:txBody>
          <a:bodyPr wrap="square" lIns="0" tIns="0" rIns="0" bIns="0" rtlCol="0" anchor="ctr"/>
          <a:lstStyle/>
          <a:p>
            <a:pPr marL="0" indent="0">
              <a:buNone/>
            </a:pPr>
            <a:r>
              <a:rPr lang="en-US" sz="1800" b="1" dirty="0">
                <a:solidFill>
                  <a:srgbClr val="37D6E5"/>
                </a:solidFill>
              </a:rPr>
              <a:t>06</a:t>
            </a:r>
            <a:endParaRPr lang="en-US" sz="1800" dirty="0"/>
          </a:p>
        </p:txBody>
      </p:sp>
      <p:sp>
        <p:nvSpPr>
          <p:cNvPr id="31" name="Text 29"/>
          <p:cNvSpPr/>
          <p:nvPr/>
        </p:nvSpPr>
        <p:spPr>
          <a:xfrm>
            <a:off x="6995160" y="4114800"/>
            <a:ext cx="3840480" cy="228600"/>
          </a:xfrm>
          <a:prstGeom prst="rect">
            <a:avLst/>
          </a:prstGeom>
          <a:noFill/>
          <a:ln/>
        </p:spPr>
        <p:txBody>
          <a:bodyPr wrap="square" lIns="0" tIns="0" rIns="0" bIns="0" rtlCol="0" anchor="ctr"/>
          <a:lstStyle/>
          <a:p>
            <a:pPr marL="0" indent="0">
              <a:buNone/>
            </a:pPr>
            <a:r>
              <a:rPr lang="en-US" sz="1420" b="1" dirty="0">
                <a:solidFill>
                  <a:srgbClr val="FFFFFF"/>
                </a:solidFill>
              </a:rPr>
              <a:t>Explainability strengthens insight</a:t>
            </a:r>
            <a:endParaRPr lang="en-US" sz="1420" dirty="0"/>
          </a:p>
        </p:txBody>
      </p:sp>
      <p:sp>
        <p:nvSpPr>
          <p:cNvPr id="32" name="Text 30"/>
          <p:cNvSpPr/>
          <p:nvPr/>
        </p:nvSpPr>
        <p:spPr>
          <a:xfrm>
            <a:off x="6995160" y="4416552"/>
            <a:ext cx="3886200" cy="310896"/>
          </a:xfrm>
          <a:prstGeom prst="rect">
            <a:avLst/>
          </a:prstGeom>
          <a:noFill/>
          <a:ln/>
        </p:spPr>
        <p:txBody>
          <a:bodyPr wrap="square" lIns="0" tIns="0" rIns="0" bIns="0" rtlCol="0" anchor="ctr">
            <a:normAutofit lnSpcReduction="10000"/>
          </a:bodyPr>
          <a:lstStyle/>
          <a:p>
            <a:pPr marL="0" indent="0">
              <a:buNone/>
            </a:pPr>
            <a:r>
              <a:rPr lang="en-US" sz="1070" dirty="0">
                <a:solidFill>
                  <a:srgbClr val="B8C6D8"/>
                </a:solidFill>
              </a:rPr>
              <a:t>PCA, neighborhood analysis and edge ablation show how graph context influences predictions.</a:t>
            </a:r>
            <a:endParaRPr lang="en-US" sz="1070" dirty="0"/>
          </a:p>
        </p:txBody>
      </p:sp>
      <p:sp>
        <p:nvSpPr>
          <p:cNvPr id="34" name="Text 31"/>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35" name="Text 32"/>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15088" y="338328"/>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5" name="Text 3"/>
          <p:cNvSpPr/>
          <p:nvPr/>
        </p:nvSpPr>
        <p:spPr>
          <a:xfrm>
            <a:off x="502920" y="301752"/>
            <a:ext cx="7955280" cy="50292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Limitations and future improvements</a:t>
            </a:r>
            <a:endParaRPr lang="en-US" sz="2900" dirty="0"/>
          </a:p>
        </p:txBody>
      </p:sp>
      <p:sp>
        <p:nvSpPr>
          <p:cNvPr id="6" name="Text 4"/>
          <p:cNvSpPr/>
          <p:nvPr/>
        </p:nvSpPr>
        <p:spPr>
          <a:xfrm>
            <a:off x="530352" y="850392"/>
            <a:ext cx="7040880" cy="246888"/>
          </a:xfrm>
          <a:prstGeom prst="rect">
            <a:avLst/>
          </a:prstGeom>
          <a:noFill/>
          <a:ln/>
        </p:spPr>
        <p:txBody>
          <a:bodyPr wrap="square" lIns="0" tIns="0" rIns="0" bIns="0" rtlCol="0" anchor="ctr"/>
          <a:lstStyle/>
          <a:p>
            <a:pPr marL="0" indent="0">
              <a:buNone/>
            </a:pPr>
            <a:r>
              <a:rPr lang="en-US" sz="1080" dirty="0">
                <a:solidFill>
                  <a:srgbClr val="B8C6D8"/>
                </a:solidFill>
                <a:latin typeface="Calibri" pitchFamily="34" charset="0"/>
                <a:ea typeface="Calibri" pitchFamily="34" charset="-122"/>
                <a:cs typeface="Calibri" pitchFamily="34" charset="-120"/>
              </a:rPr>
              <a:t>Critical reflection for viva discussion</a:t>
            </a:r>
            <a:endParaRPr lang="en-US" sz="1080" dirty="0"/>
          </a:p>
        </p:txBody>
      </p:sp>
      <p:sp>
        <p:nvSpPr>
          <p:cNvPr id="7" name="Shape 5"/>
          <p:cNvSpPr/>
          <p:nvPr/>
        </p:nvSpPr>
        <p:spPr>
          <a:xfrm>
            <a:off x="502920" y="1115568"/>
            <a:ext cx="1965960" cy="0"/>
          </a:xfrm>
          <a:prstGeom prst="line">
            <a:avLst/>
          </a:prstGeom>
          <a:noFill/>
          <a:ln w="25400">
            <a:solidFill>
              <a:srgbClr val="37D6E5"/>
            </a:solidFill>
            <a:prstDash val="solid"/>
          </a:ln>
        </p:spPr>
        <p:txBody>
          <a:bodyPr/>
          <a:lstStyle/>
          <a:p>
            <a:endParaRPr lang="en-US"/>
          </a:p>
        </p:txBody>
      </p:sp>
      <p:sp>
        <p:nvSpPr>
          <p:cNvPr id="9" name="Text 7"/>
          <p:cNvSpPr/>
          <p:nvPr/>
        </p:nvSpPr>
        <p:spPr>
          <a:xfrm>
            <a:off x="731520" y="1325880"/>
            <a:ext cx="3291840" cy="320040"/>
          </a:xfrm>
          <a:prstGeom prst="rect">
            <a:avLst/>
          </a:prstGeom>
          <a:noFill/>
          <a:ln/>
        </p:spPr>
        <p:txBody>
          <a:bodyPr wrap="square" lIns="0" tIns="0" rIns="0" bIns="0" rtlCol="0" anchor="ctr"/>
          <a:lstStyle/>
          <a:p>
            <a:pPr marL="0" indent="0">
              <a:buNone/>
            </a:pPr>
            <a:r>
              <a:rPr lang="en-US" sz="2000" b="1" dirty="0">
                <a:solidFill>
                  <a:srgbClr val="FFFFFF"/>
                </a:solidFill>
              </a:rPr>
              <a:t>Limitations</a:t>
            </a:r>
            <a:endParaRPr lang="en-US" sz="2000" dirty="0"/>
          </a:p>
        </p:txBody>
      </p:sp>
      <p:sp>
        <p:nvSpPr>
          <p:cNvPr id="10" name="Text 8"/>
          <p:cNvSpPr/>
          <p:nvPr/>
        </p:nvSpPr>
        <p:spPr>
          <a:xfrm>
            <a:off x="822960" y="1883664"/>
            <a:ext cx="4754880" cy="2194560"/>
          </a:xfrm>
          <a:prstGeom prst="rect">
            <a:avLst/>
          </a:prstGeom>
          <a:noFill/>
          <a:ln/>
        </p:spPr>
        <p:txBody>
          <a:bodyPr wrap="square" lIns="508" tIns="508" rIns="508" bIns="508" rtlCol="0" anchor="t">
            <a:normAutofit/>
          </a:bodyPr>
          <a:lstStyle/>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Strong class imbalance reduces macro-level performance.</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Mean aggregation treats all neighbors uniformly.</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Hyperparameter search was meaningful but not exhaustive.</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Full-graph training is computationally expensive.</a:t>
            </a:r>
            <a:endParaRPr lang="en-US" sz="1520" dirty="0"/>
          </a:p>
        </p:txBody>
      </p:sp>
      <p:sp>
        <p:nvSpPr>
          <p:cNvPr id="11" name="Text 9"/>
          <p:cNvSpPr/>
          <p:nvPr/>
        </p:nvSpPr>
        <p:spPr>
          <a:xfrm>
            <a:off x="6400800" y="1325880"/>
            <a:ext cx="3566160" cy="320040"/>
          </a:xfrm>
          <a:prstGeom prst="rect">
            <a:avLst/>
          </a:prstGeom>
          <a:noFill/>
          <a:ln/>
        </p:spPr>
        <p:txBody>
          <a:bodyPr wrap="square" lIns="0" tIns="0" rIns="0" bIns="0" rtlCol="0" anchor="ctr"/>
          <a:lstStyle/>
          <a:p>
            <a:pPr marL="0" indent="0">
              <a:buNone/>
            </a:pPr>
            <a:r>
              <a:rPr lang="en-US" sz="2000" b="1" dirty="0">
                <a:solidFill>
                  <a:srgbClr val="FFFFFF"/>
                </a:solidFill>
              </a:rPr>
              <a:t>Future improvements</a:t>
            </a:r>
            <a:endParaRPr lang="en-US" sz="2000" dirty="0"/>
          </a:p>
        </p:txBody>
      </p:sp>
      <p:sp>
        <p:nvSpPr>
          <p:cNvPr id="12" name="Text 10"/>
          <p:cNvSpPr/>
          <p:nvPr/>
        </p:nvSpPr>
        <p:spPr>
          <a:xfrm>
            <a:off x="6446520" y="1883664"/>
            <a:ext cx="4754880" cy="2194560"/>
          </a:xfrm>
          <a:prstGeom prst="rect">
            <a:avLst/>
          </a:prstGeom>
          <a:noFill/>
          <a:ln/>
        </p:spPr>
        <p:txBody>
          <a:bodyPr wrap="square" lIns="508" tIns="508" rIns="508" bIns="508" rtlCol="0" anchor="t">
            <a:normAutofit/>
          </a:bodyPr>
          <a:lstStyle/>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Graph Attention Networks to learn neighbor importance.</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Class-weighted loss for minority classes.</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Neighbor sampling for scalability.</a:t>
            </a:r>
          </a:p>
          <a:p>
            <a:pPr marL="152400" indent="-152400">
              <a:buSzPct val="100000"/>
              <a:buChar char="•"/>
            </a:pPr>
            <a:endParaRPr lang="en-US" sz="1520" dirty="0"/>
          </a:p>
          <a:p>
            <a:pPr marL="152400" indent="-152400">
              <a:buSzPct val="100000"/>
              <a:buChar char="•"/>
            </a:pPr>
            <a:r>
              <a:rPr lang="en-US" sz="1520" dirty="0">
                <a:solidFill>
                  <a:srgbClr val="FFFFFF"/>
                </a:solidFill>
                <a:latin typeface="Calibri" pitchFamily="34" charset="0"/>
                <a:ea typeface="Calibri" pitchFamily="34" charset="-122"/>
                <a:cs typeface="Calibri" pitchFamily="34" charset="-120"/>
              </a:rPr>
              <a:t>Additional explainability using t-SNE, UMAP or GNNExplainer.</a:t>
            </a:r>
            <a:endParaRPr lang="en-US" sz="1520" dirty="0"/>
          </a:p>
        </p:txBody>
      </p:sp>
      <p:sp>
        <p:nvSpPr>
          <p:cNvPr id="14" name="Text 12"/>
          <p:cNvSpPr/>
          <p:nvPr/>
        </p:nvSpPr>
        <p:spPr>
          <a:xfrm>
            <a:off x="1170432" y="4745736"/>
            <a:ext cx="9820656" cy="228600"/>
          </a:xfrm>
          <a:prstGeom prst="rect">
            <a:avLst/>
          </a:prstGeom>
          <a:noFill/>
          <a:ln/>
        </p:spPr>
        <p:txBody>
          <a:bodyPr wrap="square" lIns="0" tIns="0" rIns="0" bIns="0" rtlCol="0" anchor="ctr"/>
          <a:lstStyle/>
          <a:p>
            <a:pPr marL="0" indent="0">
              <a:buNone/>
            </a:pPr>
            <a:endParaRPr lang="en-US" sz="1350" dirty="0"/>
          </a:p>
        </p:txBody>
      </p:sp>
      <p:sp>
        <p:nvSpPr>
          <p:cNvPr id="15" name="Text 13"/>
          <p:cNvSpPr/>
          <p:nvPr/>
        </p:nvSpPr>
        <p:spPr>
          <a:xfrm>
            <a:off x="1170432" y="5056632"/>
            <a:ext cx="9820656" cy="274320"/>
          </a:xfrm>
          <a:prstGeom prst="rect">
            <a:avLst/>
          </a:prstGeom>
          <a:noFill/>
          <a:ln/>
        </p:spPr>
        <p:txBody>
          <a:bodyPr wrap="square" lIns="0" tIns="0" rIns="0" bIns="0" rtlCol="0" anchor="t">
            <a:normAutofit/>
          </a:bodyPr>
          <a:lstStyle/>
          <a:p>
            <a:pPr marL="0" indent="0">
              <a:buNone/>
            </a:pPr>
            <a:endParaRPr lang="en-US" sz="1220" dirty="0"/>
          </a:p>
        </p:txBody>
      </p:sp>
      <p:sp>
        <p:nvSpPr>
          <p:cNvPr id="17" name="Text 14"/>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18" name="Text 15"/>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txBody>
          <a:bodyPr/>
          <a:lstStyle/>
          <a:p>
            <a:endParaRPr lang="en-US"/>
          </a:p>
        </p:txBody>
      </p:sp>
      <p:sp>
        <p:nvSpPr>
          <p:cNvPr id="3" name="Shape 1"/>
          <p:cNvSpPr/>
          <p:nvPr/>
        </p:nvSpPr>
        <p:spPr>
          <a:xfrm>
            <a:off x="0" y="0"/>
            <a:ext cx="12191695" cy="73152"/>
          </a:xfrm>
          <a:prstGeom prst="rect">
            <a:avLst/>
          </a:prstGeom>
          <a:solidFill>
            <a:srgbClr val="37D6E5">
              <a:alpha val="85000"/>
            </a:srgbClr>
          </a:solidFill>
          <a:ln w="12700">
            <a:solidFill>
              <a:srgbClr val="37D6E5">
                <a:alpha val="0"/>
              </a:srgbClr>
            </a:solidFill>
            <a:prstDash val="solid"/>
          </a:ln>
        </p:spPr>
        <p:txBody>
          <a:bodyPr/>
          <a:lstStyle/>
          <a:p>
            <a:endParaRPr lang="en-US"/>
          </a:p>
        </p:txBody>
      </p:sp>
      <p:sp>
        <p:nvSpPr>
          <p:cNvPr id="4" name="Shape 2"/>
          <p:cNvSpPr/>
          <p:nvPr/>
        </p:nvSpPr>
        <p:spPr>
          <a:xfrm>
            <a:off x="0" y="6784848"/>
            <a:ext cx="12191695" cy="73152"/>
          </a:xfrm>
          <a:prstGeom prst="rect">
            <a:avLst/>
          </a:prstGeom>
          <a:solidFill>
            <a:srgbClr val="4F8BFF">
              <a:alpha val="50000"/>
            </a:srgbClr>
          </a:solidFill>
          <a:ln w="12700">
            <a:solidFill>
              <a:srgbClr val="4F8BFF">
                <a:alpha val="0"/>
              </a:srgbClr>
            </a:solidFill>
            <a:prstDash val="solid"/>
          </a:ln>
        </p:spPr>
        <p:txBody>
          <a:bodyPr/>
          <a:lstStyle/>
          <a:p>
            <a:endParaRPr lang="en-US"/>
          </a:p>
        </p:txBody>
      </p:sp>
      <p:sp>
        <p:nvSpPr>
          <p:cNvPr id="6" name="Text 3"/>
          <p:cNvSpPr/>
          <p:nvPr/>
        </p:nvSpPr>
        <p:spPr>
          <a:xfrm>
            <a:off x="1920240" y="2057400"/>
            <a:ext cx="8412480" cy="658368"/>
          </a:xfrm>
          <a:prstGeom prst="rect">
            <a:avLst/>
          </a:prstGeom>
          <a:noFill/>
          <a:ln/>
        </p:spPr>
        <p:txBody>
          <a:bodyPr wrap="square" lIns="0" tIns="0" rIns="0" bIns="0" rtlCol="0" anchor="ctr"/>
          <a:lstStyle/>
          <a:p>
            <a:pPr marL="0" indent="0" algn="ctr">
              <a:buNone/>
            </a:pPr>
            <a:r>
              <a:rPr lang="en-US" sz="6600" b="1" dirty="0">
                <a:solidFill>
                  <a:srgbClr val="FFFFFF"/>
                </a:solidFill>
              </a:rPr>
              <a:t>Thank You </a:t>
            </a:r>
            <a:endParaRPr lang="en-US" sz="6600" dirty="0"/>
          </a:p>
        </p:txBody>
      </p:sp>
      <p:sp>
        <p:nvSpPr>
          <p:cNvPr id="7" name="Text 4"/>
          <p:cNvSpPr/>
          <p:nvPr/>
        </p:nvSpPr>
        <p:spPr>
          <a:xfrm>
            <a:off x="2743200" y="2880360"/>
            <a:ext cx="6675120" cy="411480"/>
          </a:xfrm>
          <a:prstGeom prst="rect">
            <a:avLst/>
          </a:prstGeom>
          <a:noFill/>
          <a:ln/>
        </p:spPr>
        <p:txBody>
          <a:bodyPr wrap="square" lIns="0" tIns="0" rIns="0" bIns="0" rtlCol="0" anchor="ctr"/>
          <a:lstStyle/>
          <a:p>
            <a:pPr marL="0" indent="0" algn="ctr">
              <a:buNone/>
            </a:pPr>
            <a:endParaRPr lang="en-US" sz="2400" b="1" dirty="0">
              <a:solidFill>
                <a:srgbClr val="8DEDF4"/>
              </a:solidFill>
            </a:endParaRPr>
          </a:p>
          <a:p>
            <a:pPr marL="0" indent="0" algn="ctr">
              <a:buNone/>
            </a:pPr>
            <a:endParaRPr lang="en-US" sz="2400" b="1" dirty="0">
              <a:solidFill>
                <a:srgbClr val="8DEDF4"/>
              </a:solidFill>
            </a:endParaRPr>
          </a:p>
          <a:p>
            <a:pPr marL="0" indent="0" algn="ctr">
              <a:buNone/>
            </a:pPr>
            <a:r>
              <a:rPr lang="en-US" sz="2400" b="1" dirty="0">
                <a:solidFill>
                  <a:srgbClr val="8DEDF4"/>
                </a:solidFill>
              </a:rPr>
              <a:t>Questions &amp; Answers</a:t>
            </a:r>
            <a:endParaRPr lang="en-US" sz="2400" dirty="0"/>
          </a:p>
        </p:txBody>
      </p:sp>
      <p:sp>
        <p:nvSpPr>
          <p:cNvPr id="8" name="Text 5"/>
          <p:cNvSpPr/>
          <p:nvPr/>
        </p:nvSpPr>
        <p:spPr>
          <a:xfrm>
            <a:off x="2240280" y="3794760"/>
            <a:ext cx="7772400" cy="320040"/>
          </a:xfrm>
          <a:prstGeom prst="rect">
            <a:avLst/>
          </a:prstGeom>
          <a:noFill/>
          <a:ln/>
        </p:spPr>
        <p:txBody>
          <a:bodyPr wrap="square" lIns="0" tIns="0" rIns="0" bIns="0" rtlCol="0" anchor="ctr"/>
          <a:lstStyle/>
          <a:p>
            <a:pPr marL="0" indent="0" algn="ctr">
              <a:buNone/>
            </a:pPr>
            <a:endParaRPr lang="en-US" sz="1400" dirty="0"/>
          </a:p>
        </p:txBody>
      </p:sp>
      <p:sp>
        <p:nvSpPr>
          <p:cNvPr id="9" name="Shape 6"/>
          <p:cNvSpPr/>
          <p:nvPr/>
        </p:nvSpPr>
        <p:spPr>
          <a:xfrm>
            <a:off x="4480560" y="4334256"/>
            <a:ext cx="3200400" cy="0"/>
          </a:xfrm>
          <a:prstGeom prst="line">
            <a:avLst/>
          </a:prstGeom>
          <a:noFill/>
          <a:ln w="25400">
            <a:solidFill>
              <a:srgbClr val="37D6E5"/>
            </a:solidFill>
            <a:prstDash val="solid"/>
          </a:ln>
        </p:spPr>
        <p:txBody>
          <a:bodyPr/>
          <a:lstStyle/>
          <a:p>
            <a:endParaRPr lang="en-US"/>
          </a:p>
        </p:txBody>
      </p:sp>
      <p:sp>
        <p:nvSpPr>
          <p:cNvPr id="11" name="Text 7"/>
          <p:cNvSpPr/>
          <p:nvPr/>
        </p:nvSpPr>
        <p:spPr>
          <a:xfrm>
            <a:off x="502920" y="6556248"/>
            <a:ext cx="6309360" cy="182880"/>
          </a:xfrm>
          <a:prstGeom prst="rect">
            <a:avLst/>
          </a:prstGeom>
          <a:noFill/>
          <a:ln/>
        </p:spPr>
        <p:txBody>
          <a:bodyPr wrap="square" lIns="0" tIns="0" rIns="0" bIns="0" rtlCol="0" anchor="ctr"/>
          <a:lstStyle/>
          <a:p>
            <a:pPr marL="0" indent="0">
              <a:buNone/>
            </a:pPr>
            <a:r>
              <a:rPr lang="en-US" sz="750" dirty="0">
                <a:solidFill>
                  <a:srgbClr val="728096"/>
                </a:solidFill>
              </a:rPr>
              <a:t>CCS4354 – Tensors and Graphs |</a:t>
            </a:r>
            <a:endParaRPr lang="en-US" sz="750" dirty="0"/>
          </a:p>
        </p:txBody>
      </p:sp>
      <p:sp>
        <p:nvSpPr>
          <p:cNvPr id="12" name="Text 8"/>
          <p:cNvSpPr/>
          <p:nvPr/>
        </p:nvSpPr>
        <p:spPr>
          <a:xfrm>
            <a:off x="11201400" y="6492240"/>
            <a:ext cx="502920" cy="256032"/>
          </a:xfrm>
          <a:prstGeom prst="rect">
            <a:avLst/>
          </a:prstGeom>
          <a:noFill/>
          <a:ln/>
        </p:spPr>
        <p:txBody>
          <a:bodyPr wrap="square" lIns="0" tIns="0" rIns="0" bIns="0" rtlCol="0" anchor="ctr"/>
          <a:lstStyle/>
          <a:p>
            <a:pPr marL="0" indent="0" algn="r">
              <a:buNone/>
            </a:pPr>
            <a:r>
              <a:rPr lang="en-US" sz="900" dirty="0">
                <a:solidFill>
                  <a:srgbClr val="B8C6D8"/>
                </a:solidFill>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1138</TotalTime>
  <Words>1787</Words>
  <Application>Microsoft Office PowerPoint</Application>
  <PresentationFormat>Widescreen</PresentationFormat>
  <Paragraphs>335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Neural Network-Based Node Classification on the OGBN-Arxiv Citation Network</dc:title>
  <dc:subject>CCS4354 OGBN-Arxiv GNN Coursework Presentation</dc:subject>
  <dc:creator>Sithmi Umeshika Dissanayaka</dc:creator>
  <cp:lastModifiedBy>biheshaya@outlook.com</cp:lastModifiedBy>
  <cp:revision>3</cp:revision>
  <dcterms:created xsi:type="dcterms:W3CDTF">2026-08-17T09:58:19Z</dcterms:created>
  <dcterms:modified xsi:type="dcterms:W3CDTF">2026-08-18T06:44:46Z</dcterms:modified>
</cp:coreProperties>
</file>